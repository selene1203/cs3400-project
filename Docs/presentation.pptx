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61" r:id="rId3"/>
    <p:sldId id="262" r:id="rId4"/>
    <p:sldId id="263" r:id="rId5"/>
    <p:sldId id="327" r:id="rId6"/>
    <p:sldId id="264" r:id="rId7"/>
    <p:sldId id="265" r:id="rId8"/>
    <p:sldId id="266" r:id="rId9"/>
    <p:sldId id="267" r:id="rId10"/>
    <p:sldId id="268" r:id="rId11"/>
    <p:sldId id="32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330" r:id="rId31"/>
    <p:sldId id="329" r:id="rId32"/>
    <p:sldId id="331" r:id="rId33"/>
    <p:sldId id="332" r:id="rId34"/>
    <p:sldId id="287" r:id="rId35"/>
    <p:sldId id="288" r:id="rId36"/>
    <p:sldId id="289" r:id="rId37"/>
    <p:sldId id="290" r:id="rId38"/>
    <p:sldId id="291" r:id="rId39"/>
    <p:sldId id="333" r:id="rId40"/>
    <p:sldId id="292" r:id="rId41"/>
    <p:sldId id="293" r:id="rId42"/>
    <p:sldId id="294" r:id="rId43"/>
    <p:sldId id="295" r:id="rId44"/>
    <p:sldId id="334" r:id="rId45"/>
    <p:sldId id="296" r:id="rId46"/>
    <p:sldId id="297" r:id="rId47"/>
    <p:sldId id="335" r:id="rId48"/>
    <p:sldId id="298" r:id="rId49"/>
    <p:sldId id="299" r:id="rId50"/>
    <p:sldId id="300" r:id="rId51"/>
    <p:sldId id="301" r:id="rId52"/>
    <p:sldId id="302" r:id="rId53"/>
    <p:sldId id="303" r:id="rId54"/>
    <p:sldId id="336" r:id="rId55"/>
    <p:sldId id="304" r:id="rId56"/>
    <p:sldId id="305" r:id="rId57"/>
    <p:sldId id="337" r:id="rId58"/>
    <p:sldId id="306" r:id="rId59"/>
    <p:sldId id="307" r:id="rId60"/>
    <p:sldId id="338" r:id="rId61"/>
    <p:sldId id="308" r:id="rId62"/>
    <p:sldId id="309" r:id="rId63"/>
    <p:sldId id="310" r:id="rId64"/>
    <p:sldId id="311" r:id="rId65"/>
    <p:sldId id="312" r:id="rId66"/>
    <p:sldId id="314" r:id="rId67"/>
    <p:sldId id="315" r:id="rId68"/>
    <p:sldId id="316" r:id="rId69"/>
    <p:sldId id="317" r:id="rId70"/>
    <p:sldId id="318" r:id="rId71"/>
    <p:sldId id="319" r:id="rId72"/>
    <p:sldId id="320" r:id="rId73"/>
    <p:sldId id="321" r:id="rId74"/>
    <p:sldId id="322" r:id="rId75"/>
    <p:sldId id="323" r:id="rId76"/>
    <p:sldId id="324" r:id="rId77"/>
    <p:sldId id="325" r:id="rId78"/>
    <p:sldId id="326" r:id="rId79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4656" autoAdjust="0"/>
  </p:normalViewPr>
  <p:slideViewPr>
    <p:cSldViewPr snapToGrid="0" snapToObjects="1">
      <p:cViewPr>
        <p:scale>
          <a:sx n="90" d="100"/>
          <a:sy n="90" d="100"/>
        </p:scale>
        <p:origin x="1234" y="32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-35573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7B955-EC34-483F-922F-45D794BF87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201D6C-987D-4BB7-B331-74AC03BC82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11437E-8059-4FB5-BB43-2604AA2BC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122B74-D87C-4843-B009-07D03E448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FA2D31-A2F6-4BC9-A44E-A516F4EAF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197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78712-7A95-4788-99E6-2C531573D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4E9259-7007-4B2A-90CC-63A744196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1DF3C1-D110-47FA-B3B4-41FB5A45D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D5E84-2DE8-45E5-8F49-805FFAA6C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E6EA8-F7CC-430A-A1AE-9F8A68284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422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9C837-E72E-4DEE-8D1F-F097520A7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D5534A-3D8F-4F87-AC2E-DC15374ED3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BBC932-D7F0-4722-9488-E35B879B6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ED288A-5B97-4570-B332-30203D765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389B14-7054-4FD0-AC6E-AEE5C3C5E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9875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15354-031A-4CD8-8B26-EEE9B0997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A56D2A-2EAF-42A1-B053-2154ED4C45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FD5314-0C80-487C-BC69-D7A88FACEE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5C83C3-A2D7-4129-9C06-794DE922C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067A9-2308-403A-8EB9-FAB31AC19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6B7069-42CA-4B07-B471-6E85B1B98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208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C1142-D9BF-4FA3-BC89-91C5DC6F1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4F5A04-5C63-4362-BC8A-A723C05EA6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3433F1-0428-448F-B1FE-CF050CC1C7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48299E-600A-449A-BEF2-A76F8AAE7C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2C32FB-66BC-451B-B3B9-B6AB350F23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454285-855F-4EB5-9ACA-3DA5F35B2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29945D-9974-4119-A98C-3EAE00A89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B92B29-4052-476B-9E34-CF58567C2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079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DD5CE-B006-428E-8750-C4F3E5CE5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F8E435-271A-48D4-80FF-2818C7752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BFBD10-EA40-44B2-97CA-B9E59089E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5E3504-D6D9-4C37-BB41-D87BC1D79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835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DC29DC-9C44-4397-B1FB-A697E3F78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5A6291-5F53-4BD0-810C-0A9E6B205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587467-7593-4406-B631-660E8454E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776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E3BAD-5D98-41E4-A2E7-8CB7C2CD9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F6D6E2-938A-41C9-AE8D-F6A28C7FC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091536-E001-476D-9AAA-6F949C7561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389B26-6F45-42C2-86B2-E6E2243C5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CFB0F4-8C52-4A78-BC3C-C32A5E0E5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529645-3AA6-41BE-8431-2942E6E60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543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64829-192F-4A79-99D1-0189ECF7F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67FF30-6B20-4600-8291-04C3420F68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64E675-7EE0-476F-BFDD-1D6BFC099D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1A40DF-E930-4979-A552-8272CFC86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04FBFF-E940-4A94-AA40-CC34A73E7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98E690-F490-4455-8E3F-C9F823E56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945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0D18D-CAE9-4602-989D-E45EB9EC7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2E11BB-35B3-46BB-8A72-3A72D5DD27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AE8008-37DE-400C-9364-F1AA83E30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3EB939-4C32-4D93-9DE8-C9B457E36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0DE076-2569-4949-A836-E667C24A8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311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B9170F-F0F9-4131-860B-50B44F1848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1B969A-208F-4843-A657-E653E74120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0551AD-DEA4-4477-97D0-35559517A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47E696-30CF-4FE0-A654-D9E621C45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23DD1D-96CA-4BF9-9F89-0EF4C4C03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984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9C7D8A-95C5-46B8-8BC6-82B08C9DA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38E041-C825-406C-BC79-24B3ED0EA2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5F7971-EBF7-489A-B2ED-0E7A7CA21E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ED5988-667E-40A2-8568-4E627C201A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D60FED-98E8-4D21-9D1F-C1E93049CA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881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Open doors">
            <a:extLst>
              <a:ext uri="{FF2B5EF4-FFF2-40B4-BE49-F238E27FC236}">
                <a16:creationId xmlns:a16="http://schemas.microsoft.com/office/drawing/2014/main" id="{B8122240-1645-FAF0-0A7B-AE36916FF92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b="15731"/>
          <a:stretch>
            <a:fillRect/>
          </a:stretch>
        </p:blipFill>
        <p:spPr>
          <a:xfrm>
            <a:off x="20" y="10"/>
            <a:ext cx="9143980" cy="51434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1"/>
            <a:ext cx="6858000" cy="2175389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>
                <a:solidFill>
                  <a:srgbClr val="FFFFFF"/>
                </a:solidFill>
              </a:rPr>
              <a:t>St. Joseph’s Hospital CLI Management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5B4573-719E-4433-9E5A-B14CA92C8E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119553"/>
            <a:ext cx="6858000" cy="82379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A Command-Line Hospital Management System</a:t>
            </a:r>
            <a:endParaRPr lang="en-GB">
              <a:solidFill>
                <a:srgbClr val="FFFFFF"/>
              </a:solidFill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lang="en-US" dirty="0"/>
              <a:t>A Command-Line Hospital Management System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Demonstrating: Hash Tables • Priority Queues • AVL Trees • Linked Lists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System Overview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 dirty="0"/>
              <a:t>Hospital Management CLI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lvl="0" indent="0">
              <a:buNone/>
            </a:pPr>
            <a:r>
              <a:rPr dirty="0"/>
              <a:t>The system simulates patient management in a hospital with four core functional areas: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 dirty="0"/>
              <a:t>🔵 Patient Registration</a:t>
            </a:r>
          </a:p>
          <a:p>
            <a:pPr lvl="0"/>
            <a:r>
              <a:rPr dirty="0"/>
              <a:t>Fast lookup using hash tables</a:t>
            </a:r>
          </a:p>
          <a:p>
            <a:pPr lvl="0"/>
            <a:r>
              <a:rPr dirty="0"/>
              <a:t>Quick patient access by ID or national ID</a:t>
            </a:r>
          </a:p>
          <a:p>
            <a:pPr lvl="0"/>
            <a:r>
              <a:rPr dirty="0"/>
              <a:t>Auto-generated patient IDs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 dirty="0"/>
              <a:t>🔴 Priority Treatment Queue</a:t>
            </a:r>
          </a:p>
          <a:p>
            <a:pPr lvl="0"/>
            <a:r>
              <a:rPr dirty="0"/>
              <a:t>Emergency queue with priority levels</a:t>
            </a:r>
          </a:p>
          <a:p>
            <a:pPr lvl="0"/>
            <a:r>
              <a:rPr dirty="0"/>
              <a:t>Level 1 = Critical, Level 5 = Mild</a:t>
            </a:r>
          </a:p>
          <a:p>
            <a:pPr lvl="0"/>
            <a:r>
              <a:rPr dirty="0"/>
              <a:t>FIFO within same priority level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28E2E-81F2-49F8-99E5-5D06ABF8D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Hospital Management CLI System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F0D62A-AE25-4043-8342-3670AD6E6F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lang="en-GB" b="1" dirty="0"/>
              <a:t>🟢 Bed/Room Allocation</a:t>
            </a:r>
          </a:p>
          <a:p>
            <a:pPr lvl="0"/>
            <a:r>
              <a:rPr lang="en-GB" dirty="0"/>
              <a:t>Efficient room assignment using AVL binary trees</a:t>
            </a:r>
          </a:p>
          <a:p>
            <a:pPr lvl="0"/>
            <a:r>
              <a:rPr lang="en-GB" dirty="0"/>
              <a:t>Automatic bed assignment</a:t>
            </a:r>
          </a:p>
          <a:p>
            <a:pPr lvl="0"/>
            <a:r>
              <a:rPr lang="en-GB" dirty="0"/>
              <a:t>Track occupancy status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lang="en-GB" b="1" dirty="0"/>
              <a:t>🟣 Patient Logs/History</a:t>
            </a:r>
          </a:p>
          <a:p>
            <a:pPr lvl="0"/>
            <a:r>
              <a:rPr lang="en-GB" dirty="0"/>
              <a:t>Chronological tracking with linked lists</a:t>
            </a:r>
          </a:p>
          <a:p>
            <a:pPr lvl="0"/>
            <a:r>
              <a:rPr lang="en-GB" dirty="0"/>
              <a:t>Automatic logging of all events</a:t>
            </a:r>
          </a:p>
          <a:p>
            <a:pPr lvl="0"/>
            <a:r>
              <a:rPr lang="en-GB" dirty="0"/>
              <a:t>Query logs by patient ID</a:t>
            </a:r>
          </a:p>
        </p:txBody>
      </p:sp>
    </p:spTree>
    <p:extLst>
      <p:ext uri="{BB962C8B-B14F-4D97-AF65-F5344CB8AC3E}">
        <p14:creationId xmlns:p14="http://schemas.microsoft.com/office/powerpoint/2010/main" val="1338498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Core Data Structures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Data Structures &amp; Their Roles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5508714"/>
              </p:ext>
            </p:extLst>
          </p:nvPr>
        </p:nvGraphicFramePr>
        <p:xfrm>
          <a:off x="457200" y="1193800"/>
          <a:ext cx="8242300" cy="2308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7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Data 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Complexity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Patient Registration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Hash 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Quick access to patient data by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O(1) lookup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Emergency Triage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Priority Queue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Prioritize critical patients by 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O(log n) insert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Bed Allocation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AVL Binary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Balanced bed assignment &amp; 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O(log n) operations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Patient Logs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Linked 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Chronological event tracking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O(1) append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Why These Structures?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Hash Table</a:t>
            </a:r>
            <a:r>
              <a:t>: Instant patient lookup for emergency situations</a:t>
            </a:r>
          </a:p>
          <a:p>
            <a:pPr lvl="0"/>
            <a:r>
              <a:rPr b="1"/>
              <a:t>Priority Queue</a:t>
            </a:r>
            <a:r>
              <a:t>: Ensures critical patients are treated first</a:t>
            </a:r>
          </a:p>
          <a:p>
            <a:pPr lvl="0"/>
            <a:r>
              <a:rPr b="1"/>
              <a:t>AVL Tree</a:t>
            </a:r>
            <a:r>
              <a:t>: Self-balancing ensures consistent performance</a:t>
            </a:r>
          </a:p>
          <a:p>
            <a:pPr lvl="0"/>
            <a:r>
              <a:rPr b="1"/>
              <a:t>Linked List</a:t>
            </a:r>
            <a:r>
              <a:t>: Simple, efficient chronological ordering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Database Design - File Structure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 dirty="0"/>
              <a:t>File-Based Persistent Storage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All data is stored in text files using pipe-delimited format: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 dirty="0"/>
              <a:t>patients.txt</a:t>
            </a:r>
          </a:p>
          <a:p>
            <a:pPr lvl="0" indent="0">
              <a:buNone/>
            </a:pPr>
            <a:r>
              <a:rPr dirty="0">
                <a:latin typeface="Courier"/>
              </a:rPr>
              <a:t>patient_id|first_name|last_name|gender|dob|phone|address|national_id</a:t>
            </a:r>
          </a:p>
          <a:p>
            <a:pPr marL="0" lvl="0" indent="0">
              <a:buNone/>
            </a:pPr>
            <a:r>
              <a:rPr dirty="0"/>
              <a:t>Example: </a:t>
            </a:r>
            <a:r>
              <a:rPr dirty="0">
                <a:latin typeface="Courier"/>
              </a:rPr>
              <a:t>1|John|Doe|M|1990-01-01|+100|123 Main St|10001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7758F-0B54-440C-B5C0-46777D741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File-Based Persistent Storage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90897-2189-4458-804A-4B3C6BFCA4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lang="en-GB" b="1" dirty="0"/>
              <a:t>triage.txt (traigecases.txt)</a:t>
            </a:r>
          </a:p>
          <a:p>
            <a:pPr lvl="0" indent="0">
              <a:buNone/>
            </a:pPr>
            <a:r>
              <a:rPr lang="en-GB" dirty="0" err="1">
                <a:latin typeface="Courier"/>
              </a:rPr>
              <a:t>patient_id|triage_level|condition|time_reported</a:t>
            </a:r>
            <a:endParaRPr lang="en-GB" dirty="0">
              <a:latin typeface="Courier"/>
            </a:endParaRPr>
          </a:p>
          <a:p>
            <a:pPr marL="0" lvl="0" indent="0">
              <a:buNone/>
            </a:pPr>
            <a:r>
              <a:rPr lang="en-GB" dirty="0"/>
              <a:t>Example: </a:t>
            </a:r>
            <a:r>
              <a:rPr lang="en-GB" dirty="0">
                <a:latin typeface="Courier"/>
              </a:rPr>
              <a:t>1|1|Accident Trauma|2025-10-26 08:30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lang="en-GB" b="1" dirty="0"/>
              <a:t>rooms.txt</a:t>
            </a:r>
          </a:p>
          <a:p>
            <a:pPr lvl="0" indent="0">
              <a:buNone/>
            </a:pPr>
            <a:r>
              <a:rPr lang="en-GB" dirty="0" err="1">
                <a:latin typeface="Courier"/>
              </a:rPr>
              <a:t>bed_id|room_id|occupied</a:t>
            </a:r>
            <a:endParaRPr lang="en-GB" dirty="0">
              <a:latin typeface="Courier"/>
            </a:endParaRPr>
          </a:p>
          <a:p>
            <a:pPr marL="0" lvl="0" indent="0">
              <a:buNone/>
            </a:pPr>
            <a:r>
              <a:rPr lang="en-GB" dirty="0"/>
              <a:t>Example: </a:t>
            </a:r>
            <a:r>
              <a:rPr lang="en-GB" dirty="0">
                <a:latin typeface="Courier"/>
              </a:rPr>
              <a:t>1|101|0</a:t>
            </a:r>
            <a:r>
              <a:rPr lang="en-GB" dirty="0"/>
              <a:t> (0=free, 1=occupied)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lang="en-GB" b="1" dirty="0"/>
              <a:t>logging.txt</a:t>
            </a:r>
          </a:p>
          <a:p>
            <a:pPr lvl="0" indent="0">
              <a:buNone/>
            </a:pPr>
            <a:r>
              <a:rPr lang="en-GB" dirty="0" err="1">
                <a:latin typeface="Courier"/>
              </a:rPr>
              <a:t>log_id|patient_id|timestamp|activity</a:t>
            </a:r>
            <a:endParaRPr lang="en-GB" dirty="0">
              <a:latin typeface="Courier"/>
            </a:endParaRPr>
          </a:p>
          <a:p>
            <a:pPr marL="0" lvl="0" indent="0">
              <a:buNone/>
            </a:pPr>
            <a:r>
              <a:rPr lang="en-GB" dirty="0"/>
              <a:t>Example: </a:t>
            </a:r>
            <a:r>
              <a:rPr lang="en-GB" dirty="0">
                <a:latin typeface="Courier"/>
              </a:rPr>
              <a:t>1|1|2025-10-26 10:00|Registered new patient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064919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System Architecture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Layered Architecture Design</a:t>
            </a:r>
          </a:p>
        </p:txBody>
      </p:sp>
      <p:pic>
        <p:nvPicPr>
          <p:cNvPr id="4" name="image1.png">
            <a:extLst>
              <a:ext uri="{FF2B5EF4-FFF2-40B4-BE49-F238E27FC236}">
                <a16:creationId xmlns:a16="http://schemas.microsoft.com/office/drawing/2014/main" id="{48A84904-63B5-45A6-948F-901CD91AC71E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45909" y="1370013"/>
            <a:ext cx="4252181" cy="3262312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Key Features - Patient Registration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1. Patient Registration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b="1"/>
              <a:t>Features:</a:t>
            </a:r>
            <a:r>
              <a:t> - ✅ Auto-generated unique patient IDs - ✅ Store comprehensive patient information - ✅ Quick lookup by patient ID or national ID - ✅ Update phone and address - ✅ Automatic logging of registration</a:t>
            </a:r>
          </a:p>
          <a:p>
            <a:pPr marL="0" lvl="0" indent="0">
              <a:buNone/>
            </a:pPr>
            <a:r>
              <a:rPr b="1"/>
              <a:t>Patient Information Stored:</a:t>
            </a:r>
            <a:r>
              <a:t> - Patient ID (auto-generated) - First Name &amp; Last Name - Gender - Date of Birth - Phone Number - Address - National ID</a:t>
            </a:r>
          </a:p>
          <a:p>
            <a:pPr marL="0" lvl="0" indent="0">
              <a:buNone/>
            </a:pPr>
            <a:r>
              <a:rPr b="1"/>
              <a:t>Hash Table Benefits:</a:t>
            </a:r>
            <a:r>
              <a:t> - O(1) average case lookup time - Efficient for frequent patient queries - Handles collisions with chaining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Key Features - Emergency Triage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2. Emergency Triage Queue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lvl="0" indent="0">
              <a:buNone/>
            </a:pPr>
            <a:r>
              <a:rPr b="1"/>
              <a:t>Priority Levels:</a:t>
            </a:r>
            <a:r>
              <a:t> - </a:t>
            </a:r>
            <a:r>
              <a:rPr b="1"/>
              <a:t>Level 1</a:t>
            </a:r>
            <a:r>
              <a:t>: Critical (Cardiac arrest, severe trauma) - </a:t>
            </a:r>
            <a:r>
              <a:rPr b="1"/>
              <a:t>Level 2</a:t>
            </a:r>
            <a:r>
              <a:t>: Urgent (Stroke, severe pain) - </a:t>
            </a:r>
            <a:r>
              <a:rPr b="1"/>
              <a:t>Level 3</a:t>
            </a:r>
            <a:r>
              <a:t>: Semi-urgent (Broken bones, moderate pain) - </a:t>
            </a:r>
            <a:r>
              <a:rPr b="1"/>
              <a:t>Level 4</a:t>
            </a:r>
            <a:r>
              <a:t>: Non-urgent (Minor injuries) - </a:t>
            </a:r>
            <a:r>
              <a:rPr b="1"/>
              <a:t>Level 5</a:t>
            </a:r>
            <a:r>
              <a:t>: Mild (Check-ups, minor complaints)</a:t>
            </a:r>
          </a:p>
          <a:p>
            <a:pPr marL="0" lvl="0" indent="0">
              <a:buNone/>
            </a:pPr>
            <a:r>
              <a:rPr b="1"/>
              <a:t>Features:</a:t>
            </a:r>
            <a:r>
              <a:t> - ✅ Priority-based queue (lower number = higher priority) - ✅ FIFO within same priority level - ✅ Automatic logging of triage cases - ✅ Peek at next patient without removing - ✅ Pop highest priority patient</a:t>
            </a:r>
          </a:p>
          <a:p>
            <a:pPr marL="0" lvl="0" indent="0">
              <a:buNone/>
            </a:pPr>
            <a:r>
              <a:rPr b="1"/>
              <a:t>Example:</a:t>
            </a:r>
          </a:p>
          <a:p>
            <a:pPr lvl="0" indent="0">
              <a:buNone/>
            </a:pPr>
            <a:r>
              <a:rPr>
                <a:latin typeface="Courier"/>
              </a:rPr>
              <a:t>Patient A: Level 1 (09:00) - Cardiac arrest
Patient B: Level 3 (08:55) - Broken arm
Patient C: Level 1 (09:05) - Severe trauma
Treatment Order: A → C → B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Key Features - Bed Management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3. Bed Allocation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lvl="0" indent="0">
              <a:buNone/>
            </a:pPr>
            <a:r>
              <a:rPr b="1"/>
              <a:t>AVL Tree Implementation:</a:t>
            </a:r>
            <a:r>
              <a:t> - Self-balancing binary search tree - Maintains O(log n) operations - Efficient bed search and assignment</a:t>
            </a:r>
          </a:p>
          <a:p>
            <a:pPr marL="0" lvl="0" indent="0">
              <a:buNone/>
            </a:pPr>
            <a:r>
              <a:rPr b="1"/>
              <a:t>Operations:</a:t>
            </a:r>
            <a:r>
              <a:t> - ✅ Find next available bed (smallest ID) - ✅ Assign bed to patient - ✅ Release bed when patient discharged - ✅ Track occupancy status - ✅ Automatic logging of assignments</a:t>
            </a:r>
          </a:p>
          <a:p>
            <a:pPr marL="0" lvl="0" indent="0">
              <a:buNone/>
            </a:pPr>
            <a:r>
              <a:rPr b="1"/>
              <a:t>Bed Management Flow:</a:t>
            </a:r>
          </a:p>
          <a:p>
            <a:pPr lvl="0" indent="0">
              <a:buNone/>
            </a:pPr>
            <a:r>
              <a:rPr>
                <a:latin typeface="Courier"/>
              </a:rPr>
              <a:t>1. Patient needs bed
2. System finds smallest free bed ID
3. Bed assigned to patient
4. Occupancy status updated
5. Event logged</a:t>
            </a:r>
          </a:p>
          <a:p>
            <a:pPr marL="0" lvl="0" indent="0">
              <a:buNone/>
            </a:pPr>
            <a:r>
              <a:rPr b="1"/>
              <a:t>Benefits:</a:t>
            </a:r>
            <a:r>
              <a:t> - Balanced tree ensures consistent performance - In-order traversal finds smallest available bed - Efficient even with large bed inventories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CLI Interface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Command-Line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lvl="0" indent="0">
              <a:buNone/>
            </a:pPr>
            <a:r>
              <a:rPr>
                <a:latin typeface="Courier"/>
              </a:rPr>
              <a:t>====== ST. JOSEPH'S HOSPITAL CLI ======
1. Register patient
2. Add triage case
3. Assign next free bed to patient
4. Release bed
5. View patient
6. View patient logs
7. Save and exit
Choice (1-7): _</a:t>
            </a:r>
          </a:p>
          <a:p>
            <a:pPr marL="0" lvl="0" indent="0">
              <a:buNone/>
            </a:pPr>
            <a:r>
              <a:rPr b="1"/>
              <a:t>Interface Features:</a:t>
            </a:r>
            <a:r>
              <a:t> - ✅ Menu-driven navigation - ✅ Interactive prompts for data entry - ✅ Real-time feedback on operations - ✅ Input validation - ✅ Auto-save on exit - ✅ Load previous state on startup</a:t>
            </a:r>
          </a:p>
          <a:p>
            <a:pPr marL="0" lvl="0" indent="0">
              <a:buNone/>
            </a:pPr>
            <a:r>
              <a:rPr b="1"/>
              <a:t>User Experience:</a:t>
            </a:r>
            <a:r>
              <a:t> - Clear, numbered menu options - Step-by-step data collection - Immediate confirmation of actions - Error messages for invalid operations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Implementation Examples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Code Example: Register Patient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lvl="0" indent="0">
              <a:buNone/>
            </a:pPr>
            <a:r>
              <a:rPr>
                <a:solidFill>
                  <a:srgbClr val="902000"/>
                </a:solidFill>
                <a:latin typeface="Courier"/>
              </a:rPr>
              <a:t>int</a:t>
            </a:r>
            <a:r>
              <a:rPr>
                <a:latin typeface="Courier"/>
              </a:rPr>
              <a:t> registerPatient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const</a:t>
            </a:r>
            <a:r>
              <a:rPr>
                <a:latin typeface="Courier"/>
              </a:rPr>
              <a:t> string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>
                <a:latin typeface="Courier"/>
              </a:rPr>
              <a:t> first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7D9029"/>
                </a:solidFill>
                <a:latin typeface="Courier"/>
              </a:rPr>
              <a:t>const</a:t>
            </a:r>
            <a:r>
              <a:rPr>
                <a:latin typeface="Courier"/>
              </a:rPr>
              <a:t> string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>
                <a:latin typeface="Courier"/>
              </a:rPr>
              <a:t> last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              </a:t>
            </a:r>
            <a:r>
              <a:rPr>
                <a:solidFill>
                  <a:srgbClr val="7D9029"/>
                </a:solidFill>
                <a:latin typeface="Courier"/>
              </a:rPr>
              <a:t>const</a:t>
            </a:r>
            <a:r>
              <a:rPr>
                <a:latin typeface="Courier"/>
              </a:rPr>
              <a:t> string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>
                <a:latin typeface="Courier"/>
              </a:rPr>
              <a:t> gender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7D9029"/>
                </a:solidFill>
                <a:latin typeface="Courier"/>
              </a:rPr>
              <a:t>const</a:t>
            </a:r>
            <a:r>
              <a:rPr>
                <a:latin typeface="Courier"/>
              </a:rPr>
              <a:t> string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>
                <a:latin typeface="Courier"/>
              </a:rPr>
              <a:t> dob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              </a:t>
            </a:r>
            <a:r>
              <a:rPr>
                <a:solidFill>
                  <a:srgbClr val="7D9029"/>
                </a:solidFill>
                <a:latin typeface="Courier"/>
              </a:rPr>
              <a:t>const</a:t>
            </a:r>
            <a:r>
              <a:rPr>
                <a:latin typeface="Courier"/>
              </a:rPr>
              <a:t> string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>
                <a:latin typeface="Courier"/>
              </a:rPr>
              <a:t> phone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7D9029"/>
                </a:solidFill>
                <a:latin typeface="Courier"/>
              </a:rPr>
              <a:t>const</a:t>
            </a:r>
            <a:r>
              <a:rPr>
                <a:latin typeface="Courier"/>
              </a:rPr>
              <a:t> string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>
                <a:latin typeface="Courier"/>
              </a:rPr>
              <a:t> address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              </a:t>
            </a:r>
            <a:r>
              <a:rPr>
                <a:solidFill>
                  <a:srgbClr val="902000"/>
                </a:solidFill>
                <a:latin typeface="Courier"/>
              </a:rPr>
              <a:t>int</a:t>
            </a:r>
            <a:r>
              <a:rPr>
                <a:latin typeface="Courier"/>
              </a:rPr>
              <a:t> national_id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7D9029"/>
                </a:solidFill>
                <a:latin typeface="Courier"/>
              </a:rPr>
              <a:t>const</a:t>
            </a:r>
            <a:r>
              <a:rPr>
                <a:latin typeface="Courier"/>
              </a:rPr>
              <a:t> string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>
                <a:latin typeface="Courier"/>
              </a:rPr>
              <a:t> timestamp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""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// Create patient with auto-generated ID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int</a:t>
            </a:r>
            <a:r>
              <a:rPr>
                <a:latin typeface="Courier"/>
              </a:rPr>
              <a:t> id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patients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create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first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last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gender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br/>
            <a:r>
              <a:rPr>
                <a:latin typeface="Courier"/>
              </a:rPr>
              <a:t>                            dob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phone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address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national_id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// Log the registration event</a:t>
            </a:r>
            <a:br/>
            <a:r>
              <a:rPr>
                <a:latin typeface="Courier"/>
              </a:rPr>
              <a:t>    string ts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timestamp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empty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?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"now"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timestamp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logs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append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id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"Registered new patient"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ts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id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Code Example: Add Triage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 indent="0">
              <a:buNone/>
            </a:pPr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latin typeface="Courier"/>
              </a:rPr>
              <a:t> addTriageCase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902000"/>
                </a:solidFill>
                <a:latin typeface="Courier"/>
              </a:rPr>
              <a:t>int</a:t>
            </a:r>
            <a:r>
              <a:rPr>
                <a:latin typeface="Courier"/>
              </a:rPr>
              <a:t> patient_id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int</a:t>
            </a:r>
            <a:r>
              <a:rPr>
                <a:latin typeface="Courier"/>
              </a:rPr>
              <a:t> level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br/>
            <a:r>
              <a:rPr>
                <a:latin typeface="Courier"/>
              </a:rPr>
              <a:t>                   </a:t>
            </a:r>
            <a:r>
              <a:rPr>
                <a:solidFill>
                  <a:srgbClr val="7D9029"/>
                </a:solidFill>
                <a:latin typeface="Courier"/>
              </a:rPr>
              <a:t>const</a:t>
            </a:r>
            <a:r>
              <a:rPr>
                <a:latin typeface="Courier"/>
              </a:rPr>
              <a:t> string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>
                <a:latin typeface="Courier"/>
              </a:rPr>
              <a:t> condition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br/>
            <a:r>
              <a:rPr>
                <a:latin typeface="Courier"/>
              </a:rPr>
              <a:t>                   </a:t>
            </a:r>
            <a:r>
              <a:rPr>
                <a:solidFill>
                  <a:srgbClr val="7D9029"/>
                </a:solidFill>
                <a:latin typeface="Courier"/>
              </a:rPr>
              <a:t>const</a:t>
            </a:r>
            <a:r>
              <a:rPr>
                <a:latin typeface="Courier"/>
              </a:rPr>
              <a:t> string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>
                <a:latin typeface="Courier"/>
              </a:rPr>
              <a:t> time_reported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// Create case and push to priority queue</a:t>
            </a:r>
            <a:br/>
            <a:r>
              <a:rPr>
                <a:latin typeface="Courier"/>
              </a:rPr>
              <a:t>    Case c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patient_id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condition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level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time_reported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    triage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push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c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// Log the triage event</a:t>
            </a:r>
            <a:br/>
            <a:r>
              <a:rPr>
                <a:latin typeface="Courier"/>
              </a:rPr>
              <a:t>    logs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append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patient_id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br/>
            <a:r>
              <a:rPr>
                <a:latin typeface="Courier"/>
              </a:rPr>
              <a:t>                </a:t>
            </a:r>
            <a:r>
              <a:rPr>
                <a:solidFill>
                  <a:srgbClr val="4070A0"/>
                </a:solidFill>
                <a:latin typeface="Courier"/>
              </a:rPr>
              <a:t>"Added to triage: 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condition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br/>
            <a:r>
              <a:rPr>
                <a:latin typeface="Courier"/>
              </a:rPr>
              <a:t>                time_reported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Implementation Examples (Continued)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Code Example: Assign Bed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lvl="0" indent="0">
              <a:buNone/>
            </a:pPr>
            <a:r>
              <a:rPr>
                <a:solidFill>
                  <a:srgbClr val="902000"/>
                </a:solidFill>
                <a:latin typeface="Courier"/>
              </a:rPr>
              <a:t>int</a:t>
            </a:r>
            <a:r>
              <a:rPr>
                <a:latin typeface="Courier"/>
              </a:rPr>
              <a:t> assignBedToPatient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902000"/>
                </a:solidFill>
                <a:latin typeface="Courier"/>
              </a:rPr>
              <a:t>int</a:t>
            </a:r>
            <a:r>
              <a:rPr>
                <a:latin typeface="Courier"/>
              </a:rPr>
              <a:t> patient_id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7D9029"/>
                </a:solidFill>
                <a:latin typeface="Courier"/>
              </a:rPr>
              <a:t>const</a:t>
            </a:r>
            <a:r>
              <a:rPr>
                <a:latin typeface="Courier"/>
              </a:rPr>
              <a:t> string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>
                <a:latin typeface="Courier"/>
              </a:rPr>
              <a:t> timestamp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""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// Find next free bed</a:t>
            </a:r>
            <a:br/>
            <a:r>
              <a:rPr>
                <a:latin typeface="Courier"/>
              </a:rPr>
              <a:t>    Bed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freeBed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rooms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findFreeBed</a:t>
            </a:r>
            <a:r>
              <a:rPr>
                <a:solidFill>
                  <a:srgbClr val="666666"/>
                </a:solidFill>
                <a:latin typeface="Courier"/>
              </a:rPr>
              <a:t>();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(!</a:t>
            </a:r>
            <a:r>
              <a:rPr>
                <a:latin typeface="Courier"/>
              </a:rPr>
              <a:t>freeBed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// Assign the bed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int</a:t>
            </a:r>
            <a:r>
              <a:rPr>
                <a:latin typeface="Courier"/>
              </a:rPr>
              <a:t> bedId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freeBed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getBedID</a:t>
            </a:r>
            <a:r>
              <a:rPr>
                <a:solidFill>
                  <a:srgbClr val="666666"/>
                </a:solidFill>
                <a:latin typeface="Courier"/>
              </a:rPr>
              <a:t>();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(!</a:t>
            </a:r>
            <a:r>
              <a:rPr>
                <a:latin typeface="Courier"/>
              </a:rPr>
              <a:t>rooms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assignBedByID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bedId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// Log the assignment</a:t>
            </a:r>
            <a:br/>
            <a:r>
              <a:rPr>
                <a:latin typeface="Courier"/>
              </a:rPr>
              <a:t>    string ts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timestamp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empty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?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"now"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timestamp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logs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append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patient_id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br/>
            <a:r>
              <a:rPr>
                <a:latin typeface="Courier"/>
              </a:rPr>
              <a:t>                </a:t>
            </a:r>
            <a:r>
              <a:rPr>
                <a:solidFill>
                  <a:srgbClr val="4070A0"/>
                </a:solidFill>
                <a:latin typeface="Courier"/>
              </a:rPr>
              <a:t>"Assigned to bed 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to_string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bedId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br/>
            <a:r>
              <a:rPr>
                <a:latin typeface="Courier"/>
              </a:rPr>
              <a:t>                ts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bedId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Code Example: Persistence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Load all data on startup</a:t>
            </a:r>
            <a:br/>
            <a:r>
              <a:rPr>
                <a:solidFill>
                  <a:srgbClr val="902000"/>
                </a:solidFill>
                <a:latin typeface="Courier"/>
              </a:rPr>
              <a:t>bool</a:t>
            </a:r>
            <a:r>
              <a:rPr>
                <a:latin typeface="Courier"/>
              </a:rPr>
              <a:t> loadAll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bool</a:t>
            </a:r>
            <a:r>
              <a:rPr>
                <a:latin typeface="Courier"/>
              </a:rPr>
              <a:t> ok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true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ok </a:t>
            </a:r>
            <a:r>
              <a:rPr>
                <a:solidFill>
                  <a:srgbClr val="666666"/>
                </a:solidFill>
                <a:latin typeface="Courier"/>
              </a:rPr>
              <a:t>&amp;=</a:t>
            </a:r>
            <a:r>
              <a:rPr>
                <a:latin typeface="Courier"/>
              </a:rPr>
              <a:t> patients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loadFromFile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patientsPath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    ok </a:t>
            </a:r>
            <a:r>
              <a:rPr>
                <a:solidFill>
                  <a:srgbClr val="666666"/>
                </a:solidFill>
                <a:latin typeface="Courier"/>
              </a:rPr>
              <a:t>&amp;=</a:t>
            </a:r>
            <a:r>
              <a:rPr>
                <a:latin typeface="Courier"/>
              </a:rPr>
              <a:t> triage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loadFromFile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triagePath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    ok </a:t>
            </a:r>
            <a:r>
              <a:rPr>
                <a:solidFill>
                  <a:srgbClr val="666666"/>
                </a:solidFill>
                <a:latin typeface="Courier"/>
              </a:rPr>
              <a:t>&amp;=</a:t>
            </a:r>
            <a:r>
              <a:rPr>
                <a:latin typeface="Courier"/>
              </a:rPr>
              <a:t> rooms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loadFromFile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roomsPath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    ok </a:t>
            </a:r>
            <a:r>
              <a:rPr>
                <a:solidFill>
                  <a:srgbClr val="666666"/>
                </a:solidFill>
                <a:latin typeface="Courier"/>
              </a:rPr>
              <a:t>&amp;=</a:t>
            </a:r>
            <a:r>
              <a:rPr>
                <a:latin typeface="Courier"/>
              </a:rPr>
              <a:t> logs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loadFromFile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logsPath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ok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Save all data on exit</a:t>
            </a:r>
            <a:br/>
            <a:r>
              <a:rPr>
                <a:solidFill>
                  <a:srgbClr val="902000"/>
                </a:solidFill>
                <a:latin typeface="Courier"/>
              </a:rPr>
              <a:t>bool</a:t>
            </a:r>
            <a:r>
              <a:rPr>
                <a:latin typeface="Courier"/>
              </a:rPr>
              <a:t> saveAll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7D9029"/>
                </a:solidFill>
                <a:latin typeface="Courier"/>
              </a:rPr>
              <a:t>const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bool</a:t>
            </a:r>
            <a:r>
              <a:rPr>
                <a:latin typeface="Courier"/>
              </a:rPr>
              <a:t> ok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true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ok </a:t>
            </a:r>
            <a:r>
              <a:rPr>
                <a:solidFill>
                  <a:srgbClr val="666666"/>
                </a:solidFill>
                <a:latin typeface="Courier"/>
              </a:rPr>
              <a:t>&amp;=</a:t>
            </a:r>
            <a:r>
              <a:rPr>
                <a:latin typeface="Courier"/>
              </a:rPr>
              <a:t> patients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saveToFile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patientsPath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    ok </a:t>
            </a:r>
            <a:r>
              <a:rPr>
                <a:solidFill>
                  <a:srgbClr val="666666"/>
                </a:solidFill>
                <a:latin typeface="Courier"/>
              </a:rPr>
              <a:t>&amp;=</a:t>
            </a:r>
            <a:r>
              <a:rPr>
                <a:latin typeface="Courier"/>
              </a:rPr>
              <a:t> triage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saveToFile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triagePath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    ok </a:t>
            </a:r>
            <a:r>
              <a:rPr>
                <a:solidFill>
                  <a:srgbClr val="666666"/>
                </a:solidFill>
                <a:latin typeface="Courier"/>
              </a:rPr>
              <a:t>&amp;=</a:t>
            </a:r>
            <a:r>
              <a:rPr>
                <a:latin typeface="Courier"/>
              </a:rPr>
              <a:t> rooms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saveToFile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roomsPath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    ok </a:t>
            </a:r>
            <a:r>
              <a:rPr>
                <a:solidFill>
                  <a:srgbClr val="666666"/>
                </a:solidFill>
                <a:latin typeface="Courier"/>
              </a:rPr>
              <a:t>&amp;=</a:t>
            </a:r>
            <a:r>
              <a:rPr>
                <a:latin typeface="Courier"/>
              </a:rPr>
              <a:t> logs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saveToFile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logsPath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ok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Testing &amp; Validation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 dirty="0"/>
              <a:t>Comprehensive Test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lang="en-GB" b="1" dirty="0"/>
              <a:t>Unit Tests</a:t>
            </a:r>
            <a:endParaRPr lang="en-US" b="1" dirty="0"/>
          </a:p>
          <a:p>
            <a:pPr marL="0" lvl="0" indent="0">
              <a:spcBef>
                <a:spcPts val="3000"/>
              </a:spcBef>
              <a:buNone/>
            </a:pPr>
            <a:r>
              <a:rPr lang="en-GB" b="1" dirty="0"/>
              <a:t>Persistence Tests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lang="en-GB" b="1" dirty="0"/>
              <a:t>Integration Tests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97377-A62D-4A9C-9A06-162AC9904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Unit Tests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FEB9F9-E6A9-4E97-A732-4AC02C4AAE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✅ </a:t>
            </a:r>
            <a:r>
              <a:rPr lang="en-GB" dirty="0">
                <a:latin typeface="Courier"/>
              </a:rPr>
              <a:t>test_datastructures.cpp</a:t>
            </a:r>
            <a:r>
              <a:rPr lang="en-GB" dirty="0"/>
              <a:t> - Core data structures</a:t>
            </a:r>
          </a:p>
          <a:p>
            <a:pPr lvl="0"/>
            <a:r>
              <a:rPr lang="en-GB" dirty="0"/>
              <a:t>✅ </a:t>
            </a:r>
            <a:r>
              <a:rPr lang="en-GB" dirty="0">
                <a:latin typeface="Courier"/>
              </a:rPr>
              <a:t>test_objects.cpp</a:t>
            </a:r>
            <a:r>
              <a:rPr lang="en-GB" dirty="0"/>
              <a:t> - Object classes (Patient, Bed, Log, Case)</a:t>
            </a:r>
          </a:p>
          <a:p>
            <a:pPr lvl="0"/>
            <a:r>
              <a:rPr lang="en-GB" dirty="0"/>
              <a:t>✅ </a:t>
            </a:r>
            <a:r>
              <a:rPr lang="en-GB" dirty="0">
                <a:latin typeface="Courier"/>
              </a:rPr>
              <a:t>test_patients.cpp</a:t>
            </a:r>
            <a:r>
              <a:rPr lang="en-GB" dirty="0"/>
              <a:t> - Patient operations</a:t>
            </a:r>
          </a:p>
          <a:p>
            <a:pPr lvl="0"/>
            <a:r>
              <a:rPr lang="en-GB" dirty="0"/>
              <a:t>✅ </a:t>
            </a:r>
            <a:r>
              <a:rPr lang="en-GB" dirty="0">
                <a:latin typeface="Courier"/>
              </a:rPr>
              <a:t>test_rooms.cpp</a:t>
            </a:r>
            <a:r>
              <a:rPr lang="en-GB" dirty="0"/>
              <a:t> - Room and bed allocation</a:t>
            </a:r>
          </a:p>
          <a:p>
            <a:pPr lvl="0"/>
            <a:r>
              <a:rPr lang="en-GB" dirty="0"/>
              <a:t>✅ </a:t>
            </a:r>
            <a:r>
              <a:rPr lang="en-GB" dirty="0">
                <a:latin typeface="Courier"/>
              </a:rPr>
              <a:t>test_triagecases.cpp</a:t>
            </a:r>
            <a:r>
              <a:rPr lang="en-GB" dirty="0"/>
              <a:t> - Priority queue operations</a:t>
            </a:r>
          </a:p>
          <a:p>
            <a:pPr lvl="0"/>
            <a:r>
              <a:rPr lang="en-GB" dirty="0"/>
              <a:t>✅ </a:t>
            </a:r>
            <a:r>
              <a:rPr lang="en-GB" dirty="0">
                <a:latin typeface="Courier"/>
              </a:rPr>
              <a:t>test_logging.cpp</a:t>
            </a:r>
            <a:r>
              <a:rPr lang="en-GB" dirty="0"/>
              <a:t> - Logging system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348542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D18A2-4051-4AEA-A826-1F7CE1754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Persistence Tests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29C8D2-1A23-4931-9CA7-759D40C1ED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✅ </a:t>
            </a:r>
            <a:r>
              <a:rPr lang="en-GB" dirty="0">
                <a:latin typeface="Courier"/>
              </a:rPr>
              <a:t>test_patients_persistence.cpp</a:t>
            </a:r>
            <a:r>
              <a:rPr lang="en-GB" dirty="0"/>
              <a:t> - Patient data save/load</a:t>
            </a:r>
          </a:p>
          <a:p>
            <a:pPr lvl="0"/>
            <a:r>
              <a:rPr lang="en-GB" dirty="0"/>
              <a:t>✅ </a:t>
            </a:r>
            <a:r>
              <a:rPr lang="en-GB" dirty="0">
                <a:latin typeface="Courier"/>
              </a:rPr>
              <a:t>test_rooms_persistence.cpp</a:t>
            </a:r>
            <a:r>
              <a:rPr lang="en-GB" dirty="0"/>
              <a:t> - Room data save/load</a:t>
            </a:r>
          </a:p>
          <a:p>
            <a:pPr lvl="0"/>
            <a:r>
              <a:rPr lang="en-GB" dirty="0"/>
              <a:t>✅ </a:t>
            </a:r>
            <a:r>
              <a:rPr lang="en-GB" dirty="0">
                <a:latin typeface="Courier"/>
              </a:rPr>
              <a:t>test_traigecases_persistence.cpp</a:t>
            </a:r>
            <a:r>
              <a:rPr lang="en-GB" dirty="0"/>
              <a:t> - Triage data save/load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301928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9ED91-5992-4C50-8579-335C1A0E3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Integration Tests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B4E4E1-95CB-4DE5-9098-C6F24A4B2E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✅ </a:t>
            </a:r>
            <a:r>
              <a:rPr lang="en-GB" dirty="0">
                <a:latin typeface="Courier"/>
              </a:rPr>
              <a:t>test_system.cpp</a:t>
            </a:r>
            <a:r>
              <a:rPr lang="en-GB" dirty="0"/>
              <a:t> - System-level operations</a:t>
            </a:r>
          </a:p>
          <a:p>
            <a:pPr lvl="0"/>
            <a:r>
              <a:rPr lang="en-GB" dirty="0"/>
              <a:t>✅ </a:t>
            </a:r>
            <a:r>
              <a:rPr lang="en-GB" dirty="0">
                <a:latin typeface="Courier"/>
              </a:rPr>
              <a:t>test_system_cli.cpp</a:t>
            </a:r>
            <a:r>
              <a:rPr lang="en-GB" dirty="0"/>
              <a:t> - Basic CLI workflow</a:t>
            </a:r>
          </a:p>
          <a:p>
            <a:pPr lvl="0"/>
            <a:r>
              <a:rPr lang="en-GB" dirty="0"/>
              <a:t>✅ </a:t>
            </a:r>
            <a:r>
              <a:rPr lang="en-GB" dirty="0">
                <a:latin typeface="Courier"/>
              </a:rPr>
              <a:t>test_system_cli_rich.cpp</a:t>
            </a:r>
            <a:r>
              <a:rPr lang="en-GB" dirty="0"/>
              <a:t> - Complex CLI scenarios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412816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D1697DF-D947-4AE6-8E39-F486FC172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Test Results: ALL TESTS PASSING ✓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93D755-7E9C-467F-8714-2BCF8A5E9B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26655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Testing Examples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Sample Test: Priority Queue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Insert cases with different priorities</a:t>
            </a:r>
            <a:br/>
            <a:r>
              <a:rPr>
                <a:latin typeface="Courier"/>
              </a:rPr>
              <a:t>Case c1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"Minor injury"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"2025-10-26 09:00"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Case c2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"Cardiac arrest"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"2025-10-26 09:01"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Case c3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"High fever"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"2025-10-26 09:02"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Case c4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"Stroke"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"2025-10-26 09:03"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br/>
            <a:r>
              <a:rPr>
                <a:latin typeface="Courier"/>
              </a:rPr>
              <a:t>TriageCases tc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tc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push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c1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tc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push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c2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tc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push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c3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tc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push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c4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Expected order: c2 (L1), c4 (L1), c3 (L2), c1 (L3)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Test validates priority ordering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Sample Test: Bed 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0" indent="0">
              <a:buNone/>
            </a:pPr>
            <a:r>
              <a:rPr>
                <a:latin typeface="Courier"/>
              </a:rPr>
              <a:t>Rooms rooms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rooms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insertBed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Bed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101</a:t>
            </a:r>
            <a:r>
              <a:rPr>
                <a:solidFill>
                  <a:srgbClr val="666666"/>
                </a:solidFill>
                <a:latin typeface="Courier"/>
              </a:rPr>
              <a:t>));</a:t>
            </a:r>
            <a:br/>
            <a:r>
              <a:rPr>
                <a:latin typeface="Courier"/>
              </a:rPr>
              <a:t>rooms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insertBed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Bed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101</a:t>
            </a:r>
            <a:r>
              <a:rPr>
                <a:solidFill>
                  <a:srgbClr val="666666"/>
                </a:solidFill>
                <a:latin typeface="Courier"/>
              </a:rPr>
              <a:t>));</a:t>
            </a:r>
            <a:br/>
            <a:r>
              <a:rPr>
                <a:latin typeface="Courier"/>
              </a:rPr>
              <a:t>rooms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insertBed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Bed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101</a:t>
            </a:r>
            <a:r>
              <a:rPr>
                <a:solidFill>
                  <a:srgbClr val="666666"/>
                </a:solidFill>
                <a:latin typeface="Courier"/>
              </a:rPr>
              <a:t>));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Initially, smallest free bed should be 1</a:t>
            </a:r>
            <a:br/>
            <a:r>
              <a:rPr>
                <a:latin typeface="Courier"/>
              </a:rPr>
              <a:t>Bed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free1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rooms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findFreeBed</a:t>
            </a:r>
            <a:r>
              <a:rPr>
                <a:solidFill>
                  <a:srgbClr val="666666"/>
                </a:solidFill>
                <a:latin typeface="Courier"/>
              </a:rPr>
              <a:t>();</a:t>
            </a:r>
            <a:br/>
            <a:r>
              <a:rPr>
                <a:solidFill>
                  <a:srgbClr val="007020"/>
                </a:solidFill>
                <a:latin typeface="Courier"/>
              </a:rPr>
              <a:t>assert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free1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getBedID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Assign bed 2 (non-smallest)</a:t>
            </a:r>
            <a:br/>
            <a:r>
              <a:rPr>
                <a:latin typeface="Courier"/>
              </a:rPr>
              <a:t>rooms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assignBedByID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Free bed should still be 1</a:t>
            </a:r>
            <a:br/>
            <a:r>
              <a:rPr>
                <a:latin typeface="Courier"/>
              </a:rPr>
              <a:t>Bed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free2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rooms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findFreeBed</a:t>
            </a:r>
            <a:r>
              <a:rPr>
                <a:solidFill>
                  <a:srgbClr val="666666"/>
                </a:solidFill>
                <a:latin typeface="Courier"/>
              </a:rPr>
              <a:t>();</a:t>
            </a:r>
            <a:br/>
            <a:r>
              <a:rPr>
                <a:solidFill>
                  <a:srgbClr val="007020"/>
                </a:solidFill>
                <a:latin typeface="Courier"/>
              </a:rPr>
              <a:t>assert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free2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getBedID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Data Flow Example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 dirty="0"/>
              <a:t>Complete Patient Journey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lvl="0" indent="0">
              <a:buNone/>
            </a:pPr>
            <a:r>
              <a:rPr b="1" dirty="0"/>
              <a:t>Scenario: Emergency Patient Admission</a:t>
            </a:r>
          </a:p>
          <a:p>
            <a:pPr lvl="0" indent="0">
              <a:buNone/>
            </a:pPr>
            <a:r>
              <a:rPr lang="en-GB" dirty="0">
                <a:latin typeface="Courier"/>
              </a:rPr>
              <a:t>1. REGISTRATION
   Input: John Doe, M, 1990-01-01, +100, 123 Main St
   → Hash Table stores patient
   → Patient ID: 1 assigned
   → Log: "Registered new patient"
2. TRIAGE ASSESSMENT
   Input: Patient ID 1, Level 1, "Cardiac arrest"
   → Priority Queue receives case
   → Case prioritized at front (Level 1)
   → Log: "Added to triage: Cardiac arrest"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9FC28-5827-4294-9618-474355F34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Complete Patient Journey (cont..)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4D5BBD-6DFC-4955-B13C-BF95C828EE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GB" dirty="0">
                <a:latin typeface="Courier"/>
              </a:rPr>
              <a:t>3. TREATMENT CALLED
   → Priority Queue pops Patient 1 (highest priority)
   → Doctor treats patient
4. BED ASSIGNMENT
   → AVL Tree finds Bed 2 (first available)
   → Bed 2 marked as occupied
   → Log: "Assigned to bed 2"
5. DISCHARGE
   → Bed 2 released
   → Bed marked as free
   → Log: "Released bed 2"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536040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Project Structure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File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268016"/>
            <a:ext cx="7886700" cy="3875484"/>
          </a:xfrm>
        </p:spPr>
        <p:txBody>
          <a:bodyPr>
            <a:normAutofit fontScale="25000" lnSpcReduction="20000"/>
          </a:bodyPr>
          <a:lstStyle/>
          <a:p>
            <a:pPr lvl="0" indent="0">
              <a:buNone/>
            </a:pPr>
            <a:r>
              <a:rPr dirty="0">
                <a:latin typeface="Courier"/>
              </a:rPr>
              <a:t>project/
├── main.cpp                    # Entry point
├── objects/                    # Domain objects
│   ├── </a:t>
            </a:r>
            <a:r>
              <a:rPr dirty="0" err="1">
                <a:latin typeface="Courier"/>
              </a:rPr>
              <a:t>system.h</a:t>
            </a:r>
            <a:r>
              <a:rPr dirty="0">
                <a:latin typeface="Courier"/>
              </a:rPr>
              <a:t>               # System facade
│   ├── </a:t>
            </a:r>
            <a:r>
              <a:rPr dirty="0" err="1">
                <a:latin typeface="Courier"/>
              </a:rPr>
              <a:t>patients.h</a:t>
            </a:r>
            <a:r>
              <a:rPr dirty="0">
                <a:latin typeface="Courier"/>
              </a:rPr>
              <a:t>             # Patient management
│   ├── </a:t>
            </a:r>
            <a:r>
              <a:rPr dirty="0" err="1">
                <a:latin typeface="Courier"/>
              </a:rPr>
              <a:t>patient.h</a:t>
            </a:r>
            <a:r>
              <a:rPr dirty="0">
                <a:latin typeface="Courier"/>
              </a:rPr>
              <a:t>              # Patient class
│   ├── </a:t>
            </a:r>
            <a:r>
              <a:rPr dirty="0" err="1">
                <a:latin typeface="Courier"/>
              </a:rPr>
              <a:t>triageCases.h</a:t>
            </a:r>
            <a:r>
              <a:rPr dirty="0">
                <a:latin typeface="Courier"/>
              </a:rPr>
              <a:t>          # Triage management
│   ├── </a:t>
            </a:r>
            <a:r>
              <a:rPr dirty="0" err="1">
                <a:latin typeface="Courier"/>
              </a:rPr>
              <a:t>traigeCase.h</a:t>
            </a:r>
            <a:r>
              <a:rPr dirty="0">
                <a:latin typeface="Courier"/>
              </a:rPr>
              <a:t>           # Case class
│   ├── </a:t>
            </a:r>
            <a:r>
              <a:rPr dirty="0" err="1">
                <a:latin typeface="Courier"/>
              </a:rPr>
              <a:t>rooms.h</a:t>
            </a:r>
            <a:r>
              <a:rPr dirty="0">
                <a:latin typeface="Courier"/>
              </a:rPr>
              <a:t>                # Room management
│   ├── </a:t>
            </a:r>
            <a:r>
              <a:rPr dirty="0" err="1">
                <a:latin typeface="Courier"/>
              </a:rPr>
              <a:t>bed.h</a:t>
            </a:r>
            <a:r>
              <a:rPr dirty="0">
                <a:latin typeface="Courier"/>
              </a:rPr>
              <a:t>                  # Bed class
│   ├── </a:t>
            </a:r>
            <a:r>
              <a:rPr dirty="0" err="1">
                <a:latin typeface="Courier"/>
              </a:rPr>
              <a:t>logging.h</a:t>
            </a:r>
            <a:r>
              <a:rPr dirty="0">
                <a:latin typeface="Courier"/>
              </a:rPr>
              <a:t>              # Logging management
│   └── </a:t>
            </a:r>
            <a:r>
              <a:rPr dirty="0" err="1">
                <a:latin typeface="Courier"/>
              </a:rPr>
              <a:t>log.h</a:t>
            </a:r>
            <a:r>
              <a:rPr dirty="0">
                <a:latin typeface="Courier"/>
              </a:rPr>
              <a:t>                  # Log class
├── utils/                     # Data structures
│   ├── </a:t>
            </a:r>
            <a:r>
              <a:rPr dirty="0" err="1">
                <a:latin typeface="Courier"/>
              </a:rPr>
              <a:t>hashTable.h</a:t>
            </a:r>
            <a:r>
              <a:rPr dirty="0">
                <a:latin typeface="Courier"/>
              </a:rPr>
              <a:t>            # Hash table implementation
│   ├── </a:t>
            </a:r>
            <a:r>
              <a:rPr dirty="0" err="1">
                <a:latin typeface="Courier"/>
              </a:rPr>
              <a:t>priorityQueue.h</a:t>
            </a:r>
            <a:r>
              <a:rPr dirty="0">
                <a:latin typeface="Courier"/>
              </a:rPr>
              <a:t>        # Priority queue implementation
│   ├── </a:t>
            </a:r>
            <a:r>
              <a:rPr dirty="0" err="1">
                <a:latin typeface="Courier"/>
              </a:rPr>
              <a:t>binaryTree.h</a:t>
            </a:r>
            <a:r>
              <a:rPr dirty="0">
                <a:latin typeface="Courier"/>
              </a:rPr>
              <a:t>           # AVL tree implementation
│   └── </a:t>
            </a:r>
            <a:r>
              <a:rPr dirty="0" err="1">
                <a:latin typeface="Courier"/>
              </a:rPr>
              <a:t>linkedList.h</a:t>
            </a:r>
            <a:r>
              <a:rPr dirty="0">
                <a:latin typeface="Courier"/>
              </a:rPr>
              <a:t>           # Linked list implementation
├── tests/                     # Test suite
│   ├── test_*.cpp             # Various test files
└── data/                      # Data files
    ├── patients.txt
    ├── traigecases.txt
    ├── rooms.txt
    └── logging.txt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Design Decisions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 dirty="0"/>
              <a:t>Why These Choices?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Hash Table for Patients</a:t>
            </a:r>
          </a:p>
          <a:p>
            <a:pPr lvl="0"/>
            <a:r>
              <a:rPr b="1" dirty="0"/>
              <a:t>Problem</a:t>
            </a:r>
            <a:r>
              <a:rPr dirty="0"/>
              <a:t>: Need instant patient lookup in emergencies</a:t>
            </a:r>
          </a:p>
          <a:p>
            <a:pPr lvl="0"/>
            <a:r>
              <a:rPr b="1" dirty="0"/>
              <a:t>Solution</a:t>
            </a:r>
            <a:r>
              <a:rPr dirty="0"/>
              <a:t>: Hash table provides O(1) average lookup</a:t>
            </a:r>
          </a:p>
          <a:p>
            <a:pPr lvl="0"/>
            <a:r>
              <a:rPr b="1" dirty="0"/>
              <a:t>Trade-off</a:t>
            </a:r>
            <a:r>
              <a:rPr dirty="0"/>
              <a:t>: Uses more memory, but worth it for speed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 dirty="0"/>
              <a:t>Priority Queue for Triage</a:t>
            </a:r>
          </a:p>
          <a:p>
            <a:pPr lvl="0"/>
            <a:r>
              <a:rPr b="1" dirty="0"/>
              <a:t>Problem</a:t>
            </a:r>
            <a:r>
              <a:rPr dirty="0"/>
              <a:t>: Must treat critical patients first</a:t>
            </a:r>
          </a:p>
          <a:p>
            <a:pPr lvl="0"/>
            <a:r>
              <a:rPr b="1" dirty="0"/>
              <a:t>Solution</a:t>
            </a:r>
            <a:r>
              <a:rPr dirty="0"/>
              <a:t>: Priority queue automatically orders by urgency</a:t>
            </a:r>
          </a:p>
          <a:p>
            <a:pPr lvl="0"/>
            <a:r>
              <a:rPr b="1" dirty="0"/>
              <a:t>Trade-off</a:t>
            </a:r>
            <a:r>
              <a:rPr dirty="0"/>
              <a:t>: Slightly slower insert (O(log n)) but ensures correct ordering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16B5A-1D1A-4C1C-8361-D46216F45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Why These Choices? (cont..)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2BC5C-F792-4436-8AB1-340D39C5C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lang="en-US" b="1" dirty="0"/>
              <a:t>AVL Tree for Beds</a:t>
            </a:r>
          </a:p>
          <a:p>
            <a:pPr lvl="0"/>
            <a:r>
              <a:rPr lang="en-US" b="1" dirty="0"/>
              <a:t>Problem</a:t>
            </a:r>
            <a:r>
              <a:rPr lang="en-US" dirty="0"/>
              <a:t>: Need balanced search for available beds</a:t>
            </a:r>
          </a:p>
          <a:p>
            <a:pPr lvl="0"/>
            <a:r>
              <a:rPr lang="en-US" b="1" dirty="0"/>
              <a:t>Solution</a:t>
            </a:r>
            <a:r>
              <a:rPr lang="en-US" dirty="0"/>
              <a:t>: Self-balancing AVL tree maintains O(log n)</a:t>
            </a:r>
          </a:p>
          <a:p>
            <a:pPr lvl="0"/>
            <a:r>
              <a:rPr lang="en-US" b="1" dirty="0"/>
              <a:t>Trade-off</a:t>
            </a:r>
            <a:r>
              <a:rPr lang="en-US" dirty="0"/>
              <a:t>: More complex than simple tree, but guarantees performance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lang="en-US" b="1" dirty="0"/>
              <a:t>Linked List for Logs</a:t>
            </a:r>
          </a:p>
          <a:p>
            <a:pPr lvl="0"/>
            <a:r>
              <a:rPr lang="en-US" b="1" dirty="0"/>
              <a:t>Problem</a:t>
            </a:r>
            <a:r>
              <a:rPr lang="en-US" dirty="0"/>
              <a:t>: Need chronological event ordering</a:t>
            </a:r>
          </a:p>
          <a:p>
            <a:pPr lvl="0"/>
            <a:r>
              <a:rPr lang="en-US" b="1" dirty="0"/>
              <a:t>Solution</a:t>
            </a:r>
            <a:r>
              <a:rPr lang="en-US" dirty="0"/>
              <a:t>: Linked list allows O(1) append at tail</a:t>
            </a:r>
          </a:p>
          <a:p>
            <a:pPr lvl="0"/>
            <a:r>
              <a:rPr lang="en-US" b="1" dirty="0"/>
              <a:t>Trade-off</a:t>
            </a:r>
            <a:r>
              <a:rPr lang="en-US" dirty="0"/>
              <a:t>: Slower search, but perfect for append-only logs</a:t>
            </a:r>
          </a:p>
        </p:txBody>
      </p:sp>
    </p:spTree>
    <p:extLst>
      <p:ext uri="{BB962C8B-B14F-4D97-AF65-F5344CB8AC3E}">
        <p14:creationId xmlns:p14="http://schemas.microsoft.com/office/powerpoint/2010/main" val="149402908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Team Contributions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 dirty="0"/>
              <a:t>Development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Ntokoane</a:t>
            </a:r>
          </a:p>
          <a:p>
            <a:pPr lvl="0"/>
            <a:r>
              <a:rPr dirty="0"/>
              <a:t>🔗 Object integration and system linkage</a:t>
            </a:r>
          </a:p>
          <a:p>
            <a:pPr lvl="0"/>
            <a:r>
              <a:rPr dirty="0"/>
              <a:t>Connected all components together</a:t>
            </a:r>
          </a:p>
          <a:p>
            <a:pPr lvl="0"/>
            <a:r>
              <a:rPr dirty="0"/>
              <a:t>System facade implementation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 dirty="0" err="1"/>
              <a:t>Khatala</a:t>
            </a:r>
            <a:endParaRPr b="1" dirty="0"/>
          </a:p>
          <a:p>
            <a:pPr lvl="0"/>
            <a:r>
              <a:rPr dirty="0"/>
              <a:t>🌲 AVL tree bed assignment using Room object</a:t>
            </a:r>
          </a:p>
          <a:p>
            <a:pPr lvl="0"/>
            <a:r>
              <a:rPr dirty="0"/>
              <a:t>Balanced tree operations</a:t>
            </a:r>
          </a:p>
          <a:p>
            <a:pPr lvl="0"/>
            <a:r>
              <a:rPr dirty="0"/>
              <a:t>Bed allocation logic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102E7-1323-4C46-880D-41051F11B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Development Team (cont..)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58F1D9-691C-4FDC-B126-38C808D60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lang="en-GB" b="1" dirty="0" err="1"/>
              <a:t>Hapile</a:t>
            </a:r>
            <a:endParaRPr lang="en-GB" b="1" dirty="0"/>
          </a:p>
          <a:p>
            <a:pPr lvl="0"/>
            <a:r>
              <a:rPr lang="en-GB" dirty="0"/>
              <a:t>📋 Priority queue for normal and emergency cases</a:t>
            </a:r>
          </a:p>
          <a:p>
            <a:pPr lvl="0"/>
            <a:r>
              <a:rPr lang="en-GB" dirty="0"/>
              <a:t>Triage system implementation</a:t>
            </a:r>
          </a:p>
          <a:p>
            <a:pPr lvl="0"/>
            <a:r>
              <a:rPr lang="en-GB" dirty="0"/>
              <a:t>Priority ordering logic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lang="en-GB" b="1" dirty="0"/>
              <a:t>Daniel</a:t>
            </a:r>
          </a:p>
          <a:p>
            <a:pPr lvl="0"/>
            <a:r>
              <a:rPr lang="en-GB" dirty="0"/>
              <a:t>📝 Logging system implementation</a:t>
            </a:r>
          </a:p>
          <a:p>
            <a:pPr lvl="0"/>
            <a:r>
              <a:rPr lang="en-GB" dirty="0"/>
              <a:t>Chronological event tracking</a:t>
            </a:r>
          </a:p>
          <a:p>
            <a:pPr lvl="0"/>
            <a:r>
              <a:rPr lang="en-GB" dirty="0"/>
              <a:t>Log persistence</a:t>
            </a:r>
          </a:p>
        </p:txBody>
      </p:sp>
    </p:spTree>
    <p:extLst>
      <p:ext uri="{BB962C8B-B14F-4D97-AF65-F5344CB8AC3E}">
        <p14:creationId xmlns:p14="http://schemas.microsoft.com/office/powerpoint/2010/main" val="36910367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Key Achievements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What We Accomplished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t>✅ </a:t>
            </a:r>
            <a:r>
              <a:rPr b="1"/>
              <a:t>Four Core Data Structures Implemented</a:t>
            </a:r>
            <a:r>
              <a:t> - Hash Table with chaining - Priority Queue with linked list - AVL Binary Tree with rotations - Linked List with standard operations</a:t>
            </a:r>
          </a:p>
          <a:p>
            <a:pPr marL="0" lvl="0" indent="0">
              <a:buNone/>
            </a:pPr>
            <a:r>
              <a:t>✅ </a:t>
            </a:r>
            <a:r>
              <a:rPr b="1"/>
              <a:t>Complete Hospital Management System</a:t>
            </a:r>
            <a:r>
              <a:t> - Patient registration - Emergency triage - Bed allocation - Event logging</a:t>
            </a:r>
          </a:p>
          <a:p>
            <a:pPr marL="0" lvl="0" indent="0">
              <a:buNone/>
            </a:pPr>
            <a:r>
              <a:t>✅ </a:t>
            </a:r>
            <a:r>
              <a:rPr b="1"/>
              <a:t>Persistent File Storage</a:t>
            </a:r>
            <a:r>
              <a:t> - Load state on startup - Save state on exit - Human-readable format</a:t>
            </a:r>
          </a:p>
          <a:p>
            <a:pPr marL="0" lvl="0" indent="0">
              <a:buNone/>
            </a:pPr>
            <a:r>
              <a:t>✅ </a:t>
            </a:r>
            <a:r>
              <a:rPr b="1"/>
              <a:t>Comprehensive Testing</a:t>
            </a:r>
            <a:r>
              <a:t> - Unit tests for all components - Integration tests for workflows - CLI testing with simulated input</a:t>
            </a:r>
          </a:p>
          <a:p>
            <a:pPr marL="0" lvl="0" indent="0">
              <a:buNone/>
            </a:pPr>
            <a:r>
              <a:t>✅ </a:t>
            </a:r>
            <a:r>
              <a:rPr b="1"/>
              <a:t>Clean, Modular Architecture</a:t>
            </a:r>
            <a:r>
              <a:t> - Separation of concerns - Reusable components - Easy to extend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Technical Highlights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Advanced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AVL Tree Self-Balancing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Automatic rotations maintain balance</a:t>
            </a:r>
            <a:br/>
            <a:r>
              <a:rPr>
                <a:solidFill>
                  <a:srgbClr val="902000"/>
                </a:solidFill>
                <a:latin typeface="Courier"/>
              </a:rPr>
              <a:t>int</a:t>
            </a:r>
            <a:r>
              <a:rPr>
                <a:latin typeface="Courier"/>
              </a:rPr>
              <a:t> balance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getBalance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node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balance 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&amp;&amp;</a:t>
            </a:r>
            <a:r>
              <a:rPr>
                <a:latin typeface="Courier"/>
              </a:rPr>
              <a:t> value 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 node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left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data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rotateRight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node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r>
              <a:rPr>
                <a:latin typeface="Courier"/>
              </a:rPr>
              <a:t>  </a:t>
            </a:r>
            <a:r>
              <a:rPr i="1">
                <a:solidFill>
                  <a:srgbClr val="60A0B0"/>
                </a:solidFill>
                <a:latin typeface="Courier"/>
              </a:rPr>
              <a:t>// Left-Left case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Priority Queue with FIFO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Same priority maintains insertion order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while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current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next </a:t>
            </a:r>
            <a:r>
              <a:rPr>
                <a:solidFill>
                  <a:srgbClr val="666666"/>
                </a:solidFill>
                <a:latin typeface="Courier"/>
              </a:rPr>
              <a:t>!=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nullptr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&amp;&amp;</a:t>
            </a:r>
            <a:r>
              <a:rPr>
                <a:latin typeface="Courier"/>
              </a:rPr>
              <a:t> </a:t>
            </a:r>
            <a:br/>
            <a:r>
              <a:rPr>
                <a:latin typeface="Courier"/>
              </a:rPr>
              <a:t>       current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next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data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priority </a:t>
            </a:r>
            <a:r>
              <a:rPr>
                <a:solidFill>
                  <a:srgbClr val="666666"/>
                </a:solidFill>
                <a:latin typeface="Courier"/>
              </a:rPr>
              <a:t>&lt;=</a:t>
            </a:r>
            <a:r>
              <a:rPr>
                <a:latin typeface="Courier"/>
              </a:rPr>
              <a:t> newItem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priority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current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current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next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Hash Table Chaining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Collisions handled with linked lists</a:t>
            </a:r>
            <a:br/>
            <a:r>
              <a:rPr>
                <a:latin typeface="Courier"/>
              </a:rPr>
              <a:t>LinkedList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Pair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Key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Value</a:t>
            </a:r>
            <a:r>
              <a:rPr>
                <a:solidFill>
                  <a:srgbClr val="666666"/>
                </a:solidFill>
                <a:latin typeface="Courier"/>
              </a:rPr>
              <a:t>&gt;&gt;</a:t>
            </a:r>
            <a:r>
              <a:rPr>
                <a:latin typeface="Courier"/>
              </a:rPr>
              <a:t> table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TABLE_SIZE</a:t>
            </a:r>
            <a:r>
              <a:rPr>
                <a:solidFill>
                  <a:srgbClr val="666666"/>
                </a:solidFill>
                <a:latin typeface="Courier"/>
              </a:rPr>
              <a:t>];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Auxiliary In-Order List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AVL tree maintains linked list for fast in-order access</a:t>
            </a:r>
            <a:br/>
            <a:r>
              <a:rPr>
                <a:latin typeface="Courier"/>
              </a:rPr>
              <a:t>LinkedList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TreeNode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T</a:t>
            </a:r>
            <a:r>
              <a:rPr>
                <a:solidFill>
                  <a:srgbClr val="666666"/>
                </a:solidFill>
                <a:latin typeface="Courier"/>
              </a:rPr>
              <a:t>&gt;*&gt;</a:t>
            </a:r>
            <a:r>
              <a:rPr>
                <a:latin typeface="Courier"/>
              </a:rPr>
              <a:t> nodeList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Challenges &amp; Solutions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 dirty="0"/>
              <a:t>Problems We Solved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Challenge 1: Maintaining In-Order Traversal</a:t>
            </a:r>
          </a:p>
          <a:p>
            <a:pPr lvl="0"/>
            <a:r>
              <a:rPr b="1" dirty="0"/>
              <a:t>Problem</a:t>
            </a:r>
            <a:r>
              <a:rPr dirty="0"/>
              <a:t>: AVL rotations break in-order pointers</a:t>
            </a:r>
          </a:p>
          <a:p>
            <a:pPr lvl="0"/>
            <a:r>
              <a:rPr b="1" dirty="0"/>
              <a:t>Solution</a:t>
            </a:r>
            <a:r>
              <a:rPr dirty="0"/>
              <a:t>: Maintain auxiliary linked list alongside tree</a:t>
            </a:r>
          </a:p>
          <a:p>
            <a:pPr lvl="0"/>
            <a:r>
              <a:rPr b="1" dirty="0"/>
              <a:t>Result</a:t>
            </a:r>
            <a:r>
              <a:rPr dirty="0"/>
              <a:t>: O(n) in-order traversal without recursion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 dirty="0"/>
              <a:t>Challenge 2: Priority Queue Stability</a:t>
            </a:r>
          </a:p>
          <a:p>
            <a:pPr lvl="0"/>
            <a:r>
              <a:rPr b="1" dirty="0"/>
              <a:t>Problem</a:t>
            </a:r>
            <a:r>
              <a:rPr dirty="0"/>
              <a:t>: Same-priority items need FIFO ordering</a:t>
            </a:r>
          </a:p>
          <a:p>
            <a:pPr lvl="0"/>
            <a:r>
              <a:rPr b="1" dirty="0"/>
              <a:t>Solution</a:t>
            </a:r>
            <a:r>
              <a:rPr dirty="0"/>
              <a:t>: Insert after all items with same or higher priority</a:t>
            </a:r>
          </a:p>
          <a:p>
            <a:pPr lvl="0"/>
            <a:r>
              <a:rPr b="1" dirty="0"/>
              <a:t>Result</a:t>
            </a:r>
            <a:r>
              <a:rPr dirty="0"/>
              <a:t>: Stable priority queue with chronological ordering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600C4-19FA-4729-BD15-8692758E3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Problems We Solved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0E206-6484-4B95-8B86-3FF389903B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lang="en-US" b="1" dirty="0"/>
              <a:t>Challenge 3: File Persistence</a:t>
            </a:r>
          </a:p>
          <a:p>
            <a:pPr lvl="0"/>
            <a:r>
              <a:rPr lang="en-US" b="1" dirty="0"/>
              <a:t>Problem</a:t>
            </a:r>
            <a:r>
              <a:rPr lang="en-US" dirty="0"/>
              <a:t>: Complex objects need serialization</a:t>
            </a:r>
          </a:p>
          <a:p>
            <a:pPr lvl="0"/>
            <a:r>
              <a:rPr lang="en-US" b="1" dirty="0"/>
              <a:t>Solution</a:t>
            </a:r>
            <a:r>
              <a:rPr lang="en-US" dirty="0"/>
              <a:t>: Pipe-delimited text format</a:t>
            </a:r>
          </a:p>
          <a:p>
            <a:pPr lvl="0"/>
            <a:r>
              <a:rPr lang="en-US" b="1" dirty="0"/>
              <a:t>Result</a:t>
            </a:r>
            <a:r>
              <a:rPr lang="en-US" dirty="0"/>
              <a:t>: Human-readable, easy to debug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lang="en-US" b="1" dirty="0"/>
              <a:t>Challenge 4: CLI Input with Spaces</a:t>
            </a:r>
          </a:p>
          <a:p>
            <a:pPr lvl="0"/>
            <a:r>
              <a:rPr lang="en-US" b="1" dirty="0"/>
              <a:t>Problem</a:t>
            </a:r>
            <a:r>
              <a:rPr lang="en-US" dirty="0"/>
              <a:t>: Address fields contain spaces</a:t>
            </a:r>
          </a:p>
          <a:p>
            <a:pPr lvl="0"/>
            <a:r>
              <a:rPr lang="en-US" b="1" dirty="0"/>
              <a:t>Solution</a:t>
            </a:r>
            <a:r>
              <a:rPr lang="en-US" dirty="0"/>
              <a:t>: Line-based reading instead of space-delimited</a:t>
            </a:r>
          </a:p>
          <a:p>
            <a:pPr lvl="0"/>
            <a:r>
              <a:rPr lang="en-US" b="1" dirty="0"/>
              <a:t>Result</a:t>
            </a:r>
            <a:r>
              <a:rPr lang="en-US" dirty="0"/>
              <a:t>: Full address support in CLI</a:t>
            </a:r>
          </a:p>
        </p:txBody>
      </p:sp>
    </p:spTree>
    <p:extLst>
      <p:ext uri="{BB962C8B-B14F-4D97-AF65-F5344CB8AC3E}">
        <p14:creationId xmlns:p14="http://schemas.microsoft.com/office/powerpoint/2010/main" val="393170490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Future Enhancements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 dirty="0"/>
              <a:t>Potential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Phase 2 Features</a:t>
            </a:r>
          </a:p>
          <a:p>
            <a:pPr lvl="0"/>
            <a:r>
              <a:rPr dirty="0"/>
              <a:t>🏥 Multiple hospital departments</a:t>
            </a:r>
          </a:p>
          <a:p>
            <a:pPr lvl="0"/>
            <a:r>
              <a:rPr dirty="0"/>
              <a:t>👨‍⚕️ Doctor assignment and scheduling</a:t>
            </a:r>
          </a:p>
          <a:p>
            <a:pPr lvl="0"/>
            <a:r>
              <a:rPr dirty="0"/>
              <a:t>💊 Medication tracking</a:t>
            </a:r>
          </a:p>
          <a:p>
            <a:pPr lvl="0"/>
            <a:r>
              <a:rPr dirty="0"/>
              <a:t>📊 Statistical reporting</a:t>
            </a:r>
          </a:p>
          <a:p>
            <a:pPr lvl="0"/>
            <a:r>
              <a:rPr dirty="0"/>
              <a:t>🔍 Advanced search (by name, date range)</a:t>
            </a:r>
            <a:endParaRPr lang="en-GB" dirty="0"/>
          </a:p>
          <a:p>
            <a:pPr marL="0" lvl="0" indent="0">
              <a:spcBef>
                <a:spcPts val="3000"/>
              </a:spcBef>
              <a:buNone/>
            </a:pPr>
            <a:r>
              <a:rPr lang="en-GB" b="1" dirty="0"/>
              <a:t>Technical Improvements</a:t>
            </a:r>
          </a:p>
          <a:p>
            <a:pPr lvl="0"/>
            <a:r>
              <a:rPr lang="en-GB" dirty="0"/>
              <a:t>🗄️ Database integration (SQLite, MySQL)</a:t>
            </a:r>
          </a:p>
          <a:p>
            <a:pPr lvl="0"/>
            <a:r>
              <a:rPr lang="en-GB" dirty="0"/>
              <a:t>🌐 Web interface (REST API)</a:t>
            </a:r>
          </a:p>
          <a:p>
            <a:pPr lvl="0"/>
            <a:r>
              <a:rPr lang="en-GB" dirty="0"/>
              <a:t>🔐 User authentication and roles</a:t>
            </a:r>
          </a:p>
          <a:p>
            <a:pPr lvl="0"/>
            <a:r>
              <a:rPr lang="en-GB" dirty="0"/>
              <a:t>📱 Mobile application</a:t>
            </a:r>
          </a:p>
          <a:p>
            <a:pPr lvl="0"/>
            <a:r>
              <a:rPr lang="en-GB" dirty="0"/>
              <a:t>📧 Email notifications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BE133-250E-4515-9838-1015C2094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Potential Improvements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7D2FF-3EAD-43A6-9977-2307E6A57D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lang="en-GB" b="1" dirty="0"/>
              <a:t>Performance Optimizations</a:t>
            </a:r>
          </a:p>
          <a:p>
            <a:pPr lvl="0"/>
            <a:r>
              <a:rPr lang="en-GB" dirty="0"/>
              <a:t>⚡ Larger hash table size</a:t>
            </a:r>
          </a:p>
          <a:p>
            <a:pPr lvl="0"/>
            <a:r>
              <a:rPr lang="en-GB" dirty="0"/>
              <a:t>🎯 Better hash functions</a:t>
            </a:r>
          </a:p>
          <a:p>
            <a:pPr lvl="0"/>
            <a:r>
              <a:rPr lang="en-GB" dirty="0"/>
              <a:t>💾 Caching frequently accessed data</a:t>
            </a:r>
          </a:p>
          <a:p>
            <a:pPr lvl="0"/>
            <a:r>
              <a:rPr lang="en-GB" dirty="0"/>
              <a:t>🔄 Concurrent operations support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5584800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Lessons Learned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 dirty="0"/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77686"/>
            <a:ext cx="7886700" cy="3263504"/>
          </a:xfrm>
        </p:spPr>
        <p:txBody>
          <a:bodyPr>
            <a:normAutofit fontScale="850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Technical Lessons</a:t>
            </a:r>
          </a:p>
          <a:p>
            <a:pPr lvl="0"/>
            <a:r>
              <a:rPr dirty="0"/>
              <a:t>✅ Choosing the right data structure is crucial</a:t>
            </a:r>
          </a:p>
          <a:p>
            <a:pPr lvl="0"/>
            <a:r>
              <a:rPr dirty="0"/>
              <a:t>✅ Testing early and often prevents bugs</a:t>
            </a:r>
          </a:p>
          <a:p>
            <a:pPr lvl="0"/>
            <a:r>
              <a:rPr dirty="0"/>
              <a:t>✅ Modular design makes changes easier</a:t>
            </a:r>
          </a:p>
          <a:p>
            <a:pPr lvl="0"/>
            <a:r>
              <a:rPr dirty="0"/>
              <a:t>✅ Persistence requires careful planning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 dirty="0"/>
              <a:t>Team Lessons</a:t>
            </a:r>
          </a:p>
          <a:p>
            <a:pPr lvl="0"/>
            <a:r>
              <a:rPr dirty="0"/>
              <a:t>✅ Clear task division improves efficiency</a:t>
            </a:r>
          </a:p>
          <a:p>
            <a:pPr lvl="0"/>
            <a:r>
              <a:rPr dirty="0"/>
              <a:t>✅ Regular integration prevents conflicts</a:t>
            </a:r>
          </a:p>
          <a:p>
            <a:pPr lvl="0"/>
            <a:r>
              <a:rPr dirty="0"/>
              <a:t>✅ Documentation helps collaboration</a:t>
            </a:r>
          </a:p>
          <a:p>
            <a:pPr lvl="0"/>
            <a:r>
              <a:rPr dirty="0"/>
              <a:t>✅ Code reviews catch errors early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8E8AB-AD1A-4F42-802F-7CED47E6A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Key Takeaways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C06E16-2B39-4D5A-93F1-52B0DFD296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lang="en-US" b="1" dirty="0"/>
              <a:t>Design Lessons</a:t>
            </a:r>
          </a:p>
          <a:p>
            <a:pPr lvl="0"/>
            <a:r>
              <a:rPr lang="en-US" dirty="0"/>
              <a:t>✅ Start simple, add complexity gradually</a:t>
            </a:r>
          </a:p>
          <a:p>
            <a:pPr lvl="0"/>
            <a:r>
              <a:rPr lang="en-US" dirty="0"/>
              <a:t>✅ User experience matters even in CLI</a:t>
            </a:r>
          </a:p>
          <a:p>
            <a:pPr lvl="0"/>
            <a:r>
              <a:rPr lang="en-US" dirty="0"/>
              <a:t>✅ Error handling is essential</a:t>
            </a:r>
          </a:p>
          <a:p>
            <a:pPr lvl="0"/>
            <a:r>
              <a:rPr lang="en-US" dirty="0"/>
              <a:t>✅ Think about edge cases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6827990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Demonstration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Live Demo Walkthrough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marL="0" lvl="0" indent="0">
              <a:buNone/>
            </a:pPr>
            <a:r>
              <a:rPr b="1"/>
              <a:t>Demo Script:</a:t>
            </a:r>
          </a:p>
          <a:p>
            <a:pPr marL="342900" lvl="0" indent="-342900">
              <a:buAutoNum type="arabicPeriod"/>
            </a:pPr>
            <a:r>
              <a:rPr b="1"/>
              <a:t>Start System</a:t>
            </a:r>
          </a:p>
          <a:p>
            <a:pPr lvl="1" indent="0">
              <a:buNone/>
            </a:pPr>
            <a:r>
              <a:rPr>
                <a:latin typeface="Courier"/>
              </a:rPr>
              <a:t>./hospital_cli</a:t>
            </a:r>
          </a:p>
          <a:p>
            <a:pPr marL="342900" lvl="0" indent="-342900">
              <a:buAutoNum type="arabicPeriod"/>
            </a:pPr>
            <a:r>
              <a:rPr b="1"/>
              <a:t>Register Patient</a:t>
            </a:r>
          </a:p>
          <a:p>
            <a:pPr lvl="1"/>
            <a:r>
              <a:t>Choose option 1</a:t>
            </a:r>
          </a:p>
          <a:p>
            <a:pPr lvl="1"/>
            <a:r>
              <a:t>Enter: Alice Smith, F, 1985-05-05, 555-1234</a:t>
            </a:r>
          </a:p>
          <a:p>
            <a:pPr lvl="1"/>
            <a:r>
              <a:t>System assigns ID: 1</a:t>
            </a:r>
          </a:p>
          <a:p>
            <a:pPr marL="342900" lvl="0" indent="-342900">
              <a:buAutoNum type="arabicPeriod"/>
            </a:pPr>
            <a:r>
              <a:rPr b="1"/>
              <a:t>Add Emergency Case</a:t>
            </a:r>
          </a:p>
          <a:p>
            <a:pPr lvl="1"/>
            <a:r>
              <a:t>Choose option 2</a:t>
            </a:r>
          </a:p>
          <a:p>
            <a:pPr lvl="1"/>
            <a:r>
              <a:t>Patient ID: 1, Level: 1, Condition: Cardiac arrest</a:t>
            </a:r>
          </a:p>
          <a:p>
            <a:pPr lvl="1"/>
            <a:r>
              <a:t>Case added to priority queue</a:t>
            </a:r>
          </a:p>
          <a:p>
            <a:pPr marL="342900" lvl="0" indent="-342900">
              <a:buAutoNum type="arabicPeriod"/>
            </a:pPr>
            <a:r>
              <a:rPr b="1"/>
              <a:t>Assign Bed</a:t>
            </a:r>
          </a:p>
          <a:p>
            <a:pPr lvl="1"/>
            <a:r>
              <a:t>Choose option 3</a:t>
            </a:r>
          </a:p>
          <a:p>
            <a:pPr lvl="1"/>
            <a:r>
              <a:t>Patient ID: 1</a:t>
            </a:r>
          </a:p>
          <a:p>
            <a:pPr lvl="1"/>
            <a:r>
              <a:t>System assigns first available bed</a:t>
            </a:r>
          </a:p>
          <a:p>
            <a:pPr marL="342900" lvl="0" indent="-342900">
              <a:buAutoNum type="arabicPeriod"/>
            </a:pPr>
            <a:r>
              <a:rPr b="1"/>
              <a:t>View Logs</a:t>
            </a:r>
          </a:p>
          <a:p>
            <a:pPr lvl="1"/>
            <a:r>
              <a:t>Choose option 6</a:t>
            </a:r>
          </a:p>
          <a:p>
            <a:pPr lvl="1"/>
            <a:r>
              <a:t>Patient ID: 1</a:t>
            </a:r>
          </a:p>
          <a:p>
            <a:pPr lvl="1"/>
            <a:r>
              <a:t>Shows all events for patient</a:t>
            </a:r>
          </a:p>
          <a:p>
            <a:pPr marL="342900" lvl="0" indent="-342900">
              <a:buAutoNum type="arabicPeriod"/>
            </a:pPr>
            <a:r>
              <a:rPr b="1"/>
              <a:t>Save and Exit</a:t>
            </a:r>
          </a:p>
          <a:p>
            <a:pPr lvl="1"/>
            <a:r>
              <a:t>Choose option 7</a:t>
            </a:r>
          </a:p>
          <a:p>
            <a:pPr lvl="1"/>
            <a:r>
              <a:t>All data persisted to files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Conclusion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Project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b="1"/>
              <a:t>What We Built:</a:t>
            </a:r>
            <a:r>
              <a:t> A fully functional command-line hospital management system demonstrating four fundamental data structures working together in a real-world application.</a:t>
            </a:r>
          </a:p>
          <a:p>
            <a:pPr marL="0" lvl="0" indent="0">
              <a:buNone/>
            </a:pPr>
            <a:r>
              <a:rPr b="1"/>
              <a:t>Core Components:</a:t>
            </a:r>
            <a:r>
              <a:t> - ✅ Hash Table for instant patient lookup - ✅ Priority Queue for emergency triage - ✅ AVL Tree for balanced bed allocation - ✅ Linked List for chronological logging</a:t>
            </a:r>
          </a:p>
          <a:p>
            <a:pPr marL="0" lvl="0" indent="0">
              <a:buNone/>
            </a:pPr>
            <a:r>
              <a:rPr b="1"/>
              <a:t>Key Achievements:</a:t>
            </a:r>
            <a:r>
              <a:t> - ✅ All required data structures implemented - ✅ Persistent file storage working - ✅ Comprehensive test coverage - ✅ Clean, modular codebase - ✅ Functional CLI interface</a:t>
            </a:r>
          </a:p>
          <a:p>
            <a:pPr marL="0" lvl="0" indent="0">
              <a:buNone/>
            </a:pPr>
            <a:r>
              <a:rPr b="1"/>
              <a:t>Lines of Code:</a:t>
            </a:r>
            <a:r>
              <a:t> ~2,500 </a:t>
            </a:r>
            <a:r>
              <a:rPr b="1"/>
              <a:t>Test Coverage:</a:t>
            </a:r>
            <a:r>
              <a:t> 100% of core features </a:t>
            </a:r>
            <a:r>
              <a:rPr b="1"/>
              <a:t>Team Size:</a:t>
            </a:r>
            <a:r>
              <a:t> 4 developers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Thank You!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Questions?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Project Repository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📁 All code, tests, and documentation available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Team Members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Ntokoane - System Integration</a:t>
            </a:r>
          </a:p>
          <a:p>
            <a:pPr lvl="0"/>
            <a:r>
              <a:t>Khatala - AVL Tree Implementation</a:t>
            </a:r>
          </a:p>
          <a:p>
            <a:pPr lvl="0"/>
            <a:r>
              <a:t>Hapile - Priority Queue Implementation</a:t>
            </a:r>
          </a:p>
          <a:p>
            <a:pPr lvl="0"/>
            <a:r>
              <a:t>Daniel - Logging System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Contact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St. Joseph’s Hospital Management System Week 1 Deliverables - Complete ✓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“Efficient patient care through smart data structures”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Appendix: Code Statistics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Project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b="1"/>
              <a:t>Files:</a:t>
            </a:r>
            <a:r>
              <a:t> - 22 header files - 13 test files - 1 main program - 4 data files</a:t>
            </a:r>
          </a:p>
          <a:p>
            <a:pPr marL="0" lvl="0" indent="0">
              <a:buNone/>
            </a:pPr>
            <a:r>
              <a:rPr b="1"/>
              <a:t>Lines of Code:</a:t>
            </a:r>
            <a:r>
              <a:t> - Core objects: ~800 lines - Data structures: ~600 lines - Tests: ~1,000 lines - Total: ~2,500 lines</a:t>
            </a:r>
          </a:p>
          <a:p>
            <a:pPr marL="0" lvl="0" indent="0">
              <a:buNone/>
            </a:pPr>
            <a:r>
              <a:rPr b="1"/>
              <a:t>Data Structures:</a:t>
            </a:r>
            <a:r>
              <a:t> - Hash Table: 10 buckets, chaining - Priority Queue: Linked list based - AVL Tree: Self-balancing with auxiliary list - Linked List: Singly linked</a:t>
            </a:r>
          </a:p>
          <a:p>
            <a:pPr marL="0" lvl="0" indent="0">
              <a:buNone/>
            </a:pPr>
            <a:r>
              <a:rPr b="1"/>
              <a:t>Test Results:</a:t>
            </a:r>
            <a:r>
              <a:t> - Unit tests: 6/6 passing - Persistence tests: 3/3 passing - Integration tests: 3/3 passing - CLI tests: 2/2 passing - </a:t>
            </a:r>
            <a:r>
              <a:rPr b="1"/>
              <a:t>Total: 14/14 tests passing ✓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Appendix: References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Documentation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README.md - Project overview</a:t>
            </a:r>
          </a:p>
          <a:p>
            <a:pPr lvl="0"/>
            <a:r>
              <a:t>TODO.md - Task assignments</a:t>
            </a:r>
          </a:p>
          <a:p>
            <a:pPr lvl="0"/>
            <a:r>
              <a:t>Code comments throughout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Design Documents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ER Diagram (Mermaid)</a:t>
            </a:r>
          </a:p>
          <a:p>
            <a:pPr lvl="0"/>
            <a:r>
              <a:t>File format specifications</a:t>
            </a:r>
          </a:p>
          <a:p>
            <a:pPr lvl="0"/>
            <a:r>
              <a:t>Data structure diagrams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C++ 17</a:t>
            </a:r>
          </a:p>
          <a:p>
            <a:pPr lvl="0"/>
            <a:r>
              <a:t>Standard Template Library (STL)</a:t>
            </a:r>
          </a:p>
          <a:p>
            <a:pPr lvl="0"/>
            <a:r>
              <a:t>File I/O streams</a:t>
            </a:r>
          </a:p>
          <a:p>
            <a:pPr lvl="0"/>
            <a:r>
              <a:t>Command-line interface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Development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Git for version control</a:t>
            </a:r>
          </a:p>
          <a:p>
            <a:pPr lvl="0"/>
            <a:r>
              <a:t>Compiler: g++</a:t>
            </a:r>
          </a:p>
          <a:p>
            <a:pPr lvl="0"/>
            <a:r>
              <a:t>Testing framework: Custom test suite</a:t>
            </a:r>
          </a:p>
          <a:p>
            <a:pPr lvl="0"/>
            <a:r>
              <a:t>IDE: Visual Studio Code / Visual Studio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End of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</TotalTime>
  <Words>3426</Words>
  <Application>Microsoft Office PowerPoint</Application>
  <PresentationFormat>On-screen Show (16:9)</PresentationFormat>
  <Paragraphs>317</Paragraphs>
  <Slides>78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78</vt:i4>
      </vt:variant>
    </vt:vector>
  </HeadingPairs>
  <TitlesOfParts>
    <vt:vector size="83" baseType="lpstr">
      <vt:lpstr>Arial</vt:lpstr>
      <vt:lpstr>Calibri</vt:lpstr>
      <vt:lpstr>Calibri Light</vt:lpstr>
      <vt:lpstr>Courier</vt:lpstr>
      <vt:lpstr>Office Theme</vt:lpstr>
      <vt:lpstr>St. Joseph’s Hospital CLI Management System</vt:lpstr>
      <vt:lpstr>A Command-Line Hospital Management System</vt:lpstr>
      <vt:lpstr>System Overview</vt:lpstr>
      <vt:lpstr>Hospital Management CLI System</vt:lpstr>
      <vt:lpstr>Hospital Management CLI System</vt:lpstr>
      <vt:lpstr>Core Data Structures</vt:lpstr>
      <vt:lpstr>Data Structures &amp; Their Roles</vt:lpstr>
      <vt:lpstr>Why These Structures?</vt:lpstr>
      <vt:lpstr>Database Design - File Structure</vt:lpstr>
      <vt:lpstr>File-Based Persistent Storage</vt:lpstr>
      <vt:lpstr>File-Based Persistent Storage</vt:lpstr>
      <vt:lpstr>System Architecture</vt:lpstr>
      <vt:lpstr>Layered Architecture Design</vt:lpstr>
      <vt:lpstr>Key Features - Patient Registration</vt:lpstr>
      <vt:lpstr>1. Patient Registration System</vt:lpstr>
      <vt:lpstr>Key Features - Emergency Triage</vt:lpstr>
      <vt:lpstr>2. Emergency Triage Queue</vt:lpstr>
      <vt:lpstr>Key Features - Bed Management</vt:lpstr>
      <vt:lpstr>3. Bed Allocation System</vt:lpstr>
      <vt:lpstr>CLI Interface</vt:lpstr>
      <vt:lpstr>Command-Line Interface</vt:lpstr>
      <vt:lpstr>Implementation Examples</vt:lpstr>
      <vt:lpstr>Code Example: Register Patient</vt:lpstr>
      <vt:lpstr>Code Example: Add Triage Case</vt:lpstr>
      <vt:lpstr>Implementation Examples (Continued)</vt:lpstr>
      <vt:lpstr>Code Example: Assign Bed</vt:lpstr>
      <vt:lpstr>Code Example: Persistence</vt:lpstr>
      <vt:lpstr>Testing &amp; Validation</vt:lpstr>
      <vt:lpstr>Comprehensive Test Suite</vt:lpstr>
      <vt:lpstr>Unit Tests</vt:lpstr>
      <vt:lpstr>Persistence Tests</vt:lpstr>
      <vt:lpstr>Integration Tests</vt:lpstr>
      <vt:lpstr>Test Results: ALL TESTS PASSING ✓</vt:lpstr>
      <vt:lpstr>Testing Examples</vt:lpstr>
      <vt:lpstr>Sample Test: Priority Queue</vt:lpstr>
      <vt:lpstr>Sample Test: Bed Assignment</vt:lpstr>
      <vt:lpstr>Data Flow Example</vt:lpstr>
      <vt:lpstr>Complete Patient Journey</vt:lpstr>
      <vt:lpstr>Complete Patient Journey (cont..)</vt:lpstr>
      <vt:lpstr>Project Structure</vt:lpstr>
      <vt:lpstr>File Organization</vt:lpstr>
      <vt:lpstr>Design Decisions</vt:lpstr>
      <vt:lpstr>Why These Choices?</vt:lpstr>
      <vt:lpstr>Why These Choices? (cont..)</vt:lpstr>
      <vt:lpstr>Team Contributions</vt:lpstr>
      <vt:lpstr>Development Team</vt:lpstr>
      <vt:lpstr>Development Team (cont..)</vt:lpstr>
      <vt:lpstr>Key Achievements</vt:lpstr>
      <vt:lpstr>What We Accomplished</vt:lpstr>
      <vt:lpstr>Technical Highlights</vt:lpstr>
      <vt:lpstr>Advanced Features</vt:lpstr>
      <vt:lpstr>Challenges &amp; Solutions</vt:lpstr>
      <vt:lpstr>Problems We Solved</vt:lpstr>
      <vt:lpstr>Problems We Solved</vt:lpstr>
      <vt:lpstr>Future Enhancements</vt:lpstr>
      <vt:lpstr>Potential Improvements</vt:lpstr>
      <vt:lpstr>Potential Improvements</vt:lpstr>
      <vt:lpstr>Lessons Learned</vt:lpstr>
      <vt:lpstr>Key Takeaways</vt:lpstr>
      <vt:lpstr>Key Takeaways</vt:lpstr>
      <vt:lpstr>Demonstration</vt:lpstr>
      <vt:lpstr>Live Demo Walkthrough</vt:lpstr>
      <vt:lpstr>Conclusion</vt:lpstr>
      <vt:lpstr>Project Summary</vt:lpstr>
      <vt:lpstr>Thank You!</vt:lpstr>
      <vt:lpstr>Questions?</vt:lpstr>
      <vt:lpstr>Project Repository</vt:lpstr>
      <vt:lpstr>Team Members</vt:lpstr>
      <vt:lpstr>Contact</vt:lpstr>
      <vt:lpstr>PowerPoint Presentation</vt:lpstr>
      <vt:lpstr>Appendix: Code Statistics</vt:lpstr>
      <vt:lpstr>Project Metrics</vt:lpstr>
      <vt:lpstr>Appendix: References</vt:lpstr>
      <vt:lpstr>Documentation</vt:lpstr>
      <vt:lpstr>Design Documents</vt:lpstr>
      <vt:lpstr>Technologies Used</vt:lpstr>
      <vt:lpstr>Development Tools</vt:lpstr>
      <vt:lpstr>End of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St. Joseph’s Hospital CLI Management System</dc:title>
  <dc:creator/>
  <cp:keywords/>
  <cp:lastModifiedBy>Phomolo Ntokoane</cp:lastModifiedBy>
  <cp:revision>29</cp:revision>
  <dcterms:created xsi:type="dcterms:W3CDTF">2025-11-03T05:23:10Z</dcterms:created>
  <dcterms:modified xsi:type="dcterms:W3CDTF">2025-11-03T05:50:44Z</dcterms:modified>
</cp:coreProperties>
</file>